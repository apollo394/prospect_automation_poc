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CARE-001 v1.1 and CARE-002 v1.1 define the standardized report architecture. Format calibrated against Hively Q1/Q2 reports and HereApp Q2 report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HereApp Q2 uses a clear executive summary that separates what is working from what needs to improve; Hively Q2 uses an executive summary and KPI snapshot before detailed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v1.1 standard KPI hierarchy. HereApp Q2 centers app downloads as the mission metric; Hively Q2 centers engaged visitors, forms, contacts, and conversion in the executive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HereApp Q2 explicitly identifies app downloads as the board’s mission metric and evaluates engagement against install movement. This slide generalizes that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requires contradiction detection and prevents traffic growth from becoming proven business impact. HereApp Q2 separates what is working from what needs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requires metric definitions, data quality, attribution limits, and contradiction handling. Hively Q2 and HereApp Q2 both include measurement constraints, especially around conversions and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Hively Q2 closes with recommendations and Q3 goals. HereApp Q2 closes with marketing priorities. CARE-001 calls for recommended priorities after evidence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HereApp Q2 includes a clear 'For the Marketing Team' divider after the board summary. This structure is preferred for GS-CARE-001.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HereApp Q2 channel section compares sessions and engaged sessions by channel. Hively Q2 discusses direct, organic, social, email, and referral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Hively Q1/Q2 include form performance with conversion rates and opportunity notes. HereApp Q2 focuses on app-store taps, form submissions, and download tracking as the conversion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Hively Q1/Q2 reports separate branded vs non-branded search and high-impression/low-CTR opportunities. HereApp Q2 separates branded rebrand searches, non-branded opportunity, and AI Overviews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Hively Q2 explicitly classifies top content by role: conversion drivers, awareness/top-of-funnel pages, and technical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CARE-001 and CARE-002 list optional sources including email, social, paid platforms, YouTube, business systems, CRM, app/product data, and partner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defines Opportunity Records and requires evidence, business relevance, confidence, limitations, action, effort/dependency, priority, and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CARE-002 requires Reporting Period Records, Source Records, Metric Definition Registry, data quality, normalization, and comparability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3931920"/>
            <a:ext cx="914400" cy="0"/>
          </a:xfrm>
          <a:prstGeom prst="line">
            <a:avLst/>
          </a:prstGeom>
          <a:noFill/>
          <a:ln w="38100">
            <a:solidFill>
              <a:srgbClr val="F7C9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024128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9270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GS-CARE-001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[Client Name]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Performance Intelligence Report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694944" y="288036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17A"/>
                </a:solidFill>
              </a:rPr>
              <a:t>[Monthly / Quarterly / Annual]  |  [Current period] vs [comparison period]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94944" y="3429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02124"/>
                </a:solidFill>
              </a:rPr>
              <a:t>Prepared by SimpliCreative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21040" y="19202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Client-facing PPT format with a board summary first and marketing-team detail second.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39328" y="3063240"/>
            <a:ext cx="2816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AE7EC"/>
                </a:solidFill>
              </a:rPr>
              <a:t>Use for monthly, quarterly, or annual reporting. Keep KPI definitions stable across cadences.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A board-ready readout before the operating detail.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07008"/>
            <a:ext cx="1965960" cy="237744"/>
          </a:xfrm>
          <a:prstGeom prst="roundRect">
            <a:avLst>
              <a:gd name="adj" fmla="val 15385"/>
            </a:avLst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75588"/>
            <a:ext cx="1783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BOARD / EXECUTIVE SUMMARY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period’s story in one paragraph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205740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</a:rPr>
              <a:t>[Summarize the period in plain language: what moved, what matters, what did not move, what the evidence supports, and what the next priority is. This should be written for a board member, not a platform analyst.]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44768" y="1298448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DDF2EE"/>
          </a:solidFill>
          <a:ln w="8890">
            <a:solidFill>
              <a:srgbClr val="DDF2E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19088" y="1554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What changed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75320" y="1545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[One or two important movements vs prior period]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144768" y="2578608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FF7D9"/>
          </a:solidFill>
          <a:ln w="8890">
            <a:solidFill>
              <a:srgbClr val="FFF7D9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19088" y="2834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What it means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825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[Business or mission relevance, not just metric movement]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144768" y="3858768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DEAE7"/>
          </a:solidFill>
          <a:ln w="8890">
            <a:solidFill>
              <a:srgbClr val="FDEA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9088" y="411480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What needs attention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41056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124"/>
                </a:solidFill>
              </a:rPr>
              <a:t>[Constraint, decline, evidence gap, or next decision]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76656" y="51023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i="1" dirty="0">
                <a:solidFill>
                  <a:srgbClr val="68717A"/>
                </a:solidFill>
              </a:rPr>
              <a:t>Example pattern: “Engagement improved, but the primary outcome did not grow yet, so next period should focus on the conversion handoff and measurement gap.”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Use the same hierarchy every reporting cycle, then select only the KPIs that matter for this client.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298448"/>
            <a:ext cx="2057400" cy="0"/>
          </a:xfrm>
          <a:prstGeom prst="line">
            <a:avLst/>
          </a:prstGeom>
          <a:noFill/>
          <a:ln w="26670">
            <a:solidFill>
              <a:srgbClr val="0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PRIMARY OUTCOME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676656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84732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2164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731520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Qualified leads, installs, donations, applications, registrations, or revenue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88920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298448"/>
            <a:ext cx="2057400" cy="0"/>
          </a:xfrm>
          <a:prstGeom prst="line">
            <a:avLst/>
          </a:prstGeom>
          <a:noFill/>
          <a:ln w="26670">
            <a:solidFill>
              <a:srgbClr val="35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CONVERSIONS</a:t>
            </a: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2898648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06724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4156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2953512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Primary conversion actions and conversion rate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10912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10912" y="1298448"/>
            <a:ext cx="2057400" cy="0"/>
          </a:xfrm>
          <a:prstGeom prst="line">
            <a:avLst/>
          </a:prstGeom>
          <a:noFill/>
          <a:ln w="26670">
            <a:solidFill>
              <a:srgbClr val="2D9C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DEMAND / REACH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5120640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728716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56148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25" name="Text 23"/>
          <p:cNvSpPr/>
          <p:nvPr/>
        </p:nvSpPr>
        <p:spPr>
          <a:xfrm>
            <a:off x="5175504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Users, sessions, relevant visitor growth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232904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32904" y="1298448"/>
            <a:ext cx="2057400" cy="0"/>
          </a:xfrm>
          <a:prstGeom prst="line">
            <a:avLst/>
          </a:prstGeom>
          <a:noFill/>
          <a:ln w="26670">
            <a:solidFill>
              <a:srgbClr val="5B4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ENGAGEMENT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342632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950708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5B4BDB"/>
          </a:solidFill>
          <a:ln w="12700">
            <a:solidFill>
              <a:srgbClr val="5B4B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8140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7397496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Engaged sessions, engagement rate, depth signals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454896" y="1298448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454896" y="1298448"/>
            <a:ext cx="2057400" cy="0"/>
          </a:xfrm>
          <a:prstGeom prst="line">
            <a:avLst/>
          </a:prstGeom>
          <a:noFill/>
          <a:ln w="26670">
            <a:solidFill>
              <a:srgbClr val="F299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46336" y="142646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DISCOVERABILITY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9564624" y="168249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172700" y="2066544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00132" y="2130552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9619488" y="2368296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Organic clicks, impressions, CTR, priority visibility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49808" y="342900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F5F7F8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05840" y="3703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3B4F"/>
                </a:solidFill>
              </a:rPr>
              <a:t>Board read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331720" y="368503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</a:rPr>
              <a:t>[In one sentence, explain whether the primary outcome improved, declined, or remains constrained. Do not let supporting metrics create a more positive story than the primary outcome supports.]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05840" y="457200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B7F79"/>
                </a:solidFill>
              </a:rPr>
              <a:t>Reporting rule: current period → previous comparable period → change → interpretation → business relevance.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Business / Mission Outcome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Start with the outcome leadership cares about most, then explain the supporting signals.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3749040" cy="4069080"/>
          </a:xfrm>
          <a:prstGeom prst="roundRect">
            <a:avLst>
              <a:gd name="adj" fmla="val 1951"/>
            </a:avLst>
          </a:prstGeom>
          <a:solidFill>
            <a:srgbClr val="113B4F"/>
          </a:solidFill>
          <a:ln w="8890">
            <a:solidFill>
              <a:srgbClr val="113B4F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91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948"/>
                </a:solidFill>
              </a:rPr>
              <a:t>Primary outcome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[Outcome metric]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6EA"/>
                </a:solidFill>
              </a:rPr>
              <a:t>[Current value]  [change vs comparison]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364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C948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730752"/>
            <a:ext cx="2944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DCE6EA"/>
                </a:solidFill>
              </a:rPr>
              <a:t>[Tie the outcome to the client’s business or mission. Example: downloads, qualified inquiries, donations, applications, registrations, pipeline, enrollments.]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</a:rPr>
              <a:t>Supporting evidence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313432"/>
            <a:ext cx="608076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2880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3B4F"/>
                </a:solidFill>
              </a:rPr>
              <a:t>Conversion handoff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03720" y="18288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[Conversion action movement and quality]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3063240"/>
            <a:ext cx="608076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7860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3B4F"/>
                </a:solidFill>
              </a:rPr>
              <a:t>Demand source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03720" y="2578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[Which channel or audience is influencing the outcome]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3813048"/>
            <a:ext cx="608076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3284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3B4F"/>
                </a:solidFill>
              </a:rPr>
              <a:t>Measurement confidence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03720" y="33284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[Reliable / usable with limitations / directional]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4562856"/>
            <a:ext cx="608076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0782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3B4F"/>
                </a:solidFill>
              </a:rPr>
              <a:t>Constraint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40782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124"/>
                </a:solidFill>
              </a:rPr>
              <a:t>[What prevents a stronger conclusion or better outcome]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5029200"/>
            <a:ext cx="6199632" cy="502920"/>
          </a:xfrm>
          <a:prstGeom prst="roundRect">
            <a:avLst>
              <a:gd name="adj" fmla="val 14545"/>
            </a:avLst>
          </a:prstGeom>
          <a:solidFill>
            <a:srgbClr val="FFF7D9"/>
          </a:solidFill>
          <a:ln w="8890">
            <a:solidFill>
              <a:srgbClr val="FFF7D9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5202936"/>
            <a:ext cx="5715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13B4F"/>
                </a:solidFill>
              </a:rPr>
              <a:t>Do not let traffic or engagement become the success story if the primary outcome did not move.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What’s Working, What Needs Attention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Show the tension clearly. A useful report does not hide mixed evidence.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DDF2EE"/>
          </a:solidFill>
          <a:ln w="8890">
            <a:solidFill>
              <a:srgbClr val="DDF2E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3716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DEAE7"/>
          </a:solidFill>
          <a:ln w="8890">
            <a:solidFill>
              <a:srgbClr val="FDEAE7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916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3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What’s working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3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attention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• Evidence-supported positive movement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• Stronger channel, page, campaign, or conversion signal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• Progress toward the business or mission outcome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240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• Primary outcome not yet moving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• Conversion handoff or form friction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32461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</a:rPr>
              <a:t>• Tracking, attribution, or source-definition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0B7F79"/>
                </a:solidFill>
              </a:rPr>
              <a:t>Preferred language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960120" y="4434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</a:rPr>
              <a:t>“The evidence supports X. It does not yet prove Y. The next priority is Z.”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D94235"/>
                </a:solidFill>
              </a:rPr>
              <a:t>Risk to avoid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492240" y="44165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</a:rPr>
              <a:t>Do not turn stronger engagement into a business-outcome claim without downstream evidence.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Measurement Health &amp; Interpretation Limits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This slide protects trust. It tells leadership what the report can and cannot responsibly claim.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98448"/>
            <a:ext cx="224028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408176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Metric / source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2770632" y="1298448"/>
            <a:ext cx="224028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3784" y="1408176"/>
            <a:ext cx="2093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Definition status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5010912" y="1298448"/>
            <a:ext cx="306324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4064" y="1408176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Can support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8074152" y="1298448"/>
            <a:ext cx="29718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1408176"/>
            <a:ext cx="2825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Cannot support alone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30352" y="1682496"/>
            <a:ext cx="2240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792224"/>
            <a:ext cx="2093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[Primary outcome]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2770632" y="1682496"/>
            <a:ext cx="2240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43784" y="1792224"/>
            <a:ext cx="2093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[Approved / needs cleanup]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010912" y="1682496"/>
            <a:ext cx="3063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1792224"/>
            <a:ext cx="2916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[Outcome movement]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074152" y="1682496"/>
            <a:ext cx="2971800" cy="658368"/>
          </a:xfrm>
          <a:prstGeom prst="rect">
            <a:avLst/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7304" y="1792224"/>
            <a:ext cx="2825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[Causation or ROI without evidence]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530352" y="2340864"/>
            <a:ext cx="2240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2450592"/>
            <a:ext cx="2093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[Website conversions]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2770632" y="2340864"/>
            <a:ext cx="2240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2450592"/>
            <a:ext cx="2093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[Stable / changed]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010912" y="2340864"/>
            <a:ext cx="3063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84064" y="2450592"/>
            <a:ext cx="2916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[Meaningful actions]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8074152" y="2340864"/>
            <a:ext cx="2971800" cy="658368"/>
          </a:xfrm>
          <a:prstGeom prst="rect">
            <a:avLst/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7304" y="2450592"/>
            <a:ext cx="2825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[Qualified demand without CRM]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30352" y="2999232"/>
            <a:ext cx="2240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3108960"/>
            <a:ext cx="2093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[CRM / app / donation system]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2770632" y="2999232"/>
            <a:ext cx="2240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43784" y="3108960"/>
            <a:ext cx="2093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[Reliable / limited]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5010912" y="2999232"/>
            <a:ext cx="3063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3108960"/>
            <a:ext cx="2916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[Downstream outcomes]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8074152" y="2999232"/>
            <a:ext cx="2971800" cy="658368"/>
          </a:xfrm>
          <a:prstGeom prst="rect">
            <a:avLst/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47304" y="3108960"/>
            <a:ext cx="2825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[Full attribution if chain breaks]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30352" y="3657600"/>
            <a:ext cx="2240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3767328"/>
            <a:ext cx="2093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[Search / discoverability]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2770632" y="3657600"/>
            <a:ext cx="2240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43784" y="3767328"/>
            <a:ext cx="20939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[Stable]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010912" y="3657600"/>
            <a:ext cx="3063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84064" y="3767328"/>
            <a:ext cx="29169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[Visibility and intent signals]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8074152" y="3657600"/>
            <a:ext cx="2971800" cy="658368"/>
          </a:xfrm>
          <a:prstGeom prst="rect">
            <a:avLst/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47304" y="3767328"/>
            <a:ext cx="2825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02124"/>
                </a:solidFill>
              </a:rPr>
              <a:t>[Business impact by itself]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713232" y="5074920"/>
            <a:ext cx="10652760" cy="530352"/>
          </a:xfrm>
          <a:prstGeom prst="roundRect">
            <a:avLst>
              <a:gd name="adj" fmla="val 13793"/>
            </a:avLst>
          </a:prstGeom>
          <a:solidFill>
            <a:srgbClr val="F5F7F8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32688" y="5276088"/>
            <a:ext cx="10058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13B4F"/>
                </a:solidFill>
              </a:rPr>
              <a:t>Standard guardrail: source-reported metrics, AI interpretation, strategist conclusions, and client statements must remain distinguishable.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Next-Period Priorities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Translate evidence into a short list of human-approved priorities.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0835640" cy="768096"/>
          </a:xfrm>
          <a:prstGeom prst="roundRect">
            <a:avLst>
              <a:gd name="adj" fmla="val 9524"/>
            </a:avLst>
          </a:prstGeom>
          <a:solidFill>
            <a:srgbClr val="DDF2EE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499616"/>
            <a:ext cx="384048" cy="384048"/>
          </a:xfrm>
          <a:prstGeom prst="ellipse">
            <a:avLst/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09344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572768" y="14904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B4F"/>
                </a:solidFill>
              </a:rPr>
              <a:t>Fix / protect measurement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51960" y="14904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The team cannot improve what it cannot define or compare.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9418320" y="15179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8717A"/>
                </a:solidFill>
              </a:rPr>
              <a:t>Owner + due date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85800" y="2350008"/>
            <a:ext cx="10835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32688" y="2523744"/>
            <a:ext cx="384048" cy="384048"/>
          </a:xfrm>
          <a:prstGeom prst="ellipse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633472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2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572768" y="25146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B4F"/>
                </a:solidFill>
              </a:rPr>
              <a:t>Improve the highest-value conversion handoff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2514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Focus where traffic or engagement is not turning into the desired action.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9418320" y="2542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8717A"/>
                </a:solidFill>
              </a:rPr>
              <a:t>Owner + due date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85800" y="3374136"/>
            <a:ext cx="10835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3547872"/>
            <a:ext cx="384048" cy="384048"/>
          </a:xfrm>
          <a:prstGeom prst="ellipse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657600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572768" y="35387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B4F"/>
                </a:solidFill>
              </a:rPr>
              <a:t>Act on the strongest discoverability opportunity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3538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Prioritize query/page/content opportunities tied to audience, offer, and CTA.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9418320" y="35661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8717A"/>
                </a:solidFill>
              </a:rPr>
              <a:t>Owner + due date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85800" y="4398264"/>
            <a:ext cx="10835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88" y="4572000"/>
            <a:ext cx="384048" cy="384048"/>
          </a:xfrm>
          <a:prstGeom prst="ellipse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4681728"/>
            <a:ext cx="9144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4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572768" y="45628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3B4F"/>
                </a:solidFill>
              </a:rPr>
              <a:t>Optimize one channel or content path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45628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Choose the lever with the strongest evidence and clearest next action.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9418320" y="4590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8717A"/>
                </a:solidFill>
              </a:rPr>
              <a:t>Owner + due date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777240" y="571500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i="1" dirty="0">
                <a:solidFill>
                  <a:srgbClr val="68717A"/>
                </a:solidFill>
              </a:rPr>
              <a:t>Keep this slide short enough that the marketing leader can actually use it with leadership.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B4F"/>
          </a:solidFill>
          <a:ln w="12700">
            <a:solidFill>
              <a:srgbClr val="113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196596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C948"/>
                </a:solidFill>
              </a:rPr>
              <a:t>FOR THE MARKETING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details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49808" y="32461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EA"/>
                </a:solidFill>
              </a:rPr>
              <a:t>Channels, conversions, content, search, campaigns, and measurement detail behind the executive summary.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3886200"/>
            <a:ext cx="1005840" cy="0"/>
          </a:xfrm>
          <a:prstGeom prst="line">
            <a:avLst/>
          </a:prstGeom>
          <a:noFill/>
          <a:ln w="38100">
            <a:solidFill>
              <a:srgbClr val="F7C9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58600" y="649224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B4C2CA"/>
                </a:solidFill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Channel Quality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Where attention comes from, which sources engage, and which sources contribute to meaningful action.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316736"/>
            <a:ext cx="169164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2646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Channel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2130552" y="1316736"/>
            <a:ext cx="173736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426464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Reach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3867912" y="1316736"/>
            <a:ext cx="20574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1426464"/>
            <a:ext cx="1929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Engagement quality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5925312" y="1316736"/>
            <a:ext cx="224028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426464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Conversion / outcome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8165592" y="1316736"/>
            <a:ext cx="342900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426464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Interpretation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38912" y="1700784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2880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Organic Search</a:t>
            </a:r>
            <a:endParaRPr lang="en-US" sz="710" dirty="0"/>
          </a:p>
        </p:txBody>
      </p:sp>
      <p:sp>
        <p:nvSpPr>
          <p:cNvPr id="17" name="Shape 15"/>
          <p:cNvSpPr/>
          <p:nvPr/>
        </p:nvSpPr>
        <p:spPr>
          <a:xfrm>
            <a:off x="2130552" y="1700784"/>
            <a:ext cx="173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82880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[Sessions / users]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3867912" y="1700784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828800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[Engaged sessions / rate]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5925312" y="1700784"/>
            <a:ext cx="2240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828800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[Conversions / quality]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8165592" y="1700784"/>
            <a:ext cx="3429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828800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[High-intent discovery channel]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438912" y="2267712"/>
            <a:ext cx="169164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395728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Direct / Brand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2130552" y="2267712"/>
            <a:ext cx="173736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239572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[Sessions / users]</a:t>
            </a:r>
            <a:endParaRPr lang="en-US" sz="710" dirty="0"/>
          </a:p>
        </p:txBody>
      </p:sp>
      <p:sp>
        <p:nvSpPr>
          <p:cNvPr id="29" name="Shape 27"/>
          <p:cNvSpPr/>
          <p:nvPr/>
        </p:nvSpPr>
        <p:spPr>
          <a:xfrm>
            <a:off x="3867912" y="2267712"/>
            <a:ext cx="20574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2395728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[Engagement]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5925312" y="2267712"/>
            <a:ext cx="224028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2395728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[Actions]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8165592" y="2267712"/>
            <a:ext cx="34290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2395728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[Brand demand or returning users]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438912" y="2834640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962656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Paid / Campaign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2130552" y="2834640"/>
            <a:ext cx="173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96265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[Spend + traffic]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3867912" y="2834640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2962656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[Engagement quality]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5925312" y="2834640"/>
            <a:ext cx="2240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296265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[CPA / conversion]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8165592" y="2834640"/>
            <a:ext cx="3429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2962656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[Scale, quality, or efficiency issue]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438912" y="3401568"/>
            <a:ext cx="169164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529584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Referral / Partners</a:t>
            </a:r>
            <a:endParaRPr lang="en-US" sz="710" dirty="0"/>
          </a:p>
        </p:txBody>
      </p:sp>
      <p:sp>
        <p:nvSpPr>
          <p:cNvPr id="47" name="Shape 45"/>
          <p:cNvSpPr/>
          <p:nvPr/>
        </p:nvSpPr>
        <p:spPr>
          <a:xfrm>
            <a:off x="2130552" y="3401568"/>
            <a:ext cx="173736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352958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[Traffic]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3867912" y="3401568"/>
            <a:ext cx="20574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31920" y="352958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[Engagement]</a:t>
            </a:r>
            <a:endParaRPr lang="en-US" sz="710" dirty="0"/>
          </a:p>
        </p:txBody>
      </p:sp>
      <p:sp>
        <p:nvSpPr>
          <p:cNvPr id="51" name="Shape 49"/>
          <p:cNvSpPr/>
          <p:nvPr/>
        </p:nvSpPr>
        <p:spPr>
          <a:xfrm>
            <a:off x="5925312" y="3401568"/>
            <a:ext cx="224028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3529584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[Leads / outcomes]</a:t>
            </a:r>
            <a:endParaRPr lang="en-US" sz="710" dirty="0"/>
          </a:p>
        </p:txBody>
      </p:sp>
      <p:sp>
        <p:nvSpPr>
          <p:cNvPr id="53" name="Shape 51"/>
          <p:cNvSpPr/>
          <p:nvPr/>
        </p:nvSpPr>
        <p:spPr>
          <a:xfrm>
            <a:off x="8165592" y="3401568"/>
            <a:ext cx="3429000" cy="566928"/>
          </a:xfrm>
          <a:prstGeom prst="rect">
            <a:avLst/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3529584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[Relationship opportunity]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438912" y="3968496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096512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Social / Email</a:t>
            </a:r>
            <a:endParaRPr lang="en-US" sz="710" dirty="0"/>
          </a:p>
        </p:txBody>
      </p:sp>
      <p:sp>
        <p:nvSpPr>
          <p:cNvPr id="57" name="Shape 55"/>
          <p:cNvSpPr/>
          <p:nvPr/>
        </p:nvSpPr>
        <p:spPr>
          <a:xfrm>
            <a:off x="2130552" y="3968496"/>
            <a:ext cx="1737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0" y="409651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[Reach]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3867912" y="3968496"/>
            <a:ext cx="2057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4096512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[Engagement]</a:t>
            </a:r>
            <a:endParaRPr lang="en-US" sz="710" dirty="0"/>
          </a:p>
        </p:txBody>
      </p:sp>
      <p:sp>
        <p:nvSpPr>
          <p:cNvPr id="61" name="Shape 59"/>
          <p:cNvSpPr/>
          <p:nvPr/>
        </p:nvSpPr>
        <p:spPr>
          <a:xfrm>
            <a:off x="5925312" y="3968496"/>
            <a:ext cx="2240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89320" y="4096512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[Actions]</a:t>
            </a:r>
            <a:endParaRPr lang="en-US" sz="710" dirty="0"/>
          </a:p>
        </p:txBody>
      </p:sp>
      <p:sp>
        <p:nvSpPr>
          <p:cNvPr id="63" name="Shape 61"/>
          <p:cNvSpPr/>
          <p:nvPr/>
        </p:nvSpPr>
        <p:spPr>
          <a:xfrm>
            <a:off x="8165592" y="3968496"/>
            <a:ext cx="3429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0" y="4096512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202124"/>
                </a:solidFill>
              </a:rPr>
              <a:t>[Awareness, nurture, or conversion support]</a:t>
            </a:r>
            <a:endParaRPr lang="en-US" sz="710" dirty="0"/>
          </a:p>
        </p:txBody>
      </p:sp>
      <p:sp>
        <p:nvSpPr>
          <p:cNvPr id="65" name="Shape 63"/>
          <p:cNvSpPr/>
          <p:nvPr/>
        </p:nvSpPr>
        <p:spPr>
          <a:xfrm>
            <a:off x="731520" y="5120640"/>
            <a:ext cx="10652760" cy="457200"/>
          </a:xfrm>
          <a:prstGeom prst="roundRect">
            <a:avLst>
              <a:gd name="adj" fmla="val 16000"/>
            </a:avLst>
          </a:prstGeom>
          <a:solidFill>
            <a:srgbClr val="DDF2EE"/>
          </a:solidFill>
          <a:ln w="8890">
            <a:solidFill>
              <a:srgbClr val="DDF2E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960120" y="5303520"/>
            <a:ext cx="9966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3B4F"/>
                </a:solidFill>
              </a:rPr>
              <a:t>Analysis rule: volume is not quality. A smaller channel may deserve priority if it contributes to meaningful outcomes.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Conversion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Which actions moved, which stalled, and where friction appears.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2240280" cy="0"/>
          </a:xfrm>
          <a:prstGeom prst="line">
            <a:avLst/>
          </a:prstGeom>
          <a:noFill/>
          <a:ln w="26670">
            <a:solidFill>
              <a:srgbClr val="35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6245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PRIMARY CONVERSIONS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658368" y="161848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57884" y="2002536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35A853"/>
          </a:solidFill>
          <a:ln w="12700">
            <a:solidFill>
              <a:srgbClr val="35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5316" y="2066544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713232" y="230428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Actions that map to client objective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971800" y="123444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71800" y="1234440"/>
            <a:ext cx="2240280" cy="0"/>
          </a:xfrm>
          <a:prstGeom prst="line">
            <a:avLst/>
          </a:prstGeom>
          <a:noFill/>
          <a:ln w="26670">
            <a:solidFill>
              <a:srgbClr val="0B7F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136245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CONVERSION RATE</a:t>
            </a:r>
            <a:endParaRPr lang="en-US" sz="710" dirty="0"/>
          </a:p>
        </p:txBody>
      </p:sp>
      <p:sp>
        <p:nvSpPr>
          <p:cNvPr id="15" name="Text 13"/>
          <p:cNvSpPr/>
          <p:nvPr/>
        </p:nvSpPr>
        <p:spPr>
          <a:xfrm>
            <a:off x="3081528" y="161848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[##%]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81044" y="2002536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0B7F79"/>
          </a:solidFill>
          <a:ln w="12700">
            <a:solidFill>
              <a:srgbClr val="0B7F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8476" y="2066544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 pts]</a:t>
            </a:r>
            <a:endParaRPr lang="en-US" sz="640" dirty="0"/>
          </a:p>
        </p:txBody>
      </p:sp>
      <p:sp>
        <p:nvSpPr>
          <p:cNvPr id="18" name="Text 16"/>
          <p:cNvSpPr/>
          <p:nvPr/>
        </p:nvSpPr>
        <p:spPr>
          <a:xfrm>
            <a:off x="3136392" y="230428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Meaningful action rate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1234440"/>
            <a:ext cx="2240280" cy="0"/>
          </a:xfrm>
          <a:prstGeom prst="line">
            <a:avLst/>
          </a:prstGeom>
          <a:noFill/>
          <a:ln w="26670">
            <a:solidFill>
              <a:srgbClr val="F299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36245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QUALIFIED OUTCOMES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5504688" y="161848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[###]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04204" y="2002536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1636" y="2066544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[±##%]</a:t>
            </a:r>
            <a:endParaRPr lang="en-US" sz="640" dirty="0"/>
          </a:p>
        </p:txBody>
      </p:sp>
      <p:sp>
        <p:nvSpPr>
          <p:cNvPr id="25" name="Text 23"/>
          <p:cNvSpPr/>
          <p:nvPr/>
        </p:nvSpPr>
        <p:spPr>
          <a:xfrm>
            <a:off x="5559552" y="230428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CRM/app/business system progression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818120" y="123444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18120" y="1234440"/>
            <a:ext cx="2240280" cy="0"/>
          </a:xfrm>
          <a:prstGeom prst="line">
            <a:avLst/>
          </a:prstGeom>
          <a:noFill/>
          <a:ln w="26670">
            <a:solidFill>
              <a:srgbClr val="D942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1362456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8717A"/>
                </a:solidFill>
              </a:rPr>
              <a:t>FRICTION SIGNAL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927848" y="161848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[metric]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627364" y="2002536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D94235"/>
          </a:solidFill>
          <a:ln w="12700">
            <a:solidFill>
              <a:srgbClr val="D942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54796" y="2066544"/>
            <a:ext cx="5669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</a:rPr>
              <a:t>[change]</a:t>
            </a:r>
            <a:endParaRPr lang="en-US" sz="640" dirty="0"/>
          </a:p>
        </p:txBody>
      </p:sp>
      <p:sp>
        <p:nvSpPr>
          <p:cNvPr id="32" name="Text 30"/>
          <p:cNvSpPr/>
          <p:nvPr/>
        </p:nvSpPr>
        <p:spPr>
          <a:xfrm>
            <a:off x="7982712" y="230428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8717A"/>
                </a:solidFill>
              </a:rPr>
              <a:t>Drop, bounce, abandon, or poor handoff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49808" y="3246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5F7F8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012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Highest-value actions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385876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• [Primary form / download / donation / registration]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• [Secondary high-intent action]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• [Transitional action if useful]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32461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FF7D9"/>
          </a:solidFill>
          <a:ln w="8890">
            <a:solidFill>
              <a:srgbClr val="FFF7D9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46520" y="3493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3B4F"/>
                </a:solidFill>
              </a:rPr>
              <a:t>Optimization focus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385876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• Reduce form friction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• Clarify next-step language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</a:rPr>
              <a:t>• Improve handoff to CRM, app store, donation platform, or registration system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Discoverability &amp; Search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Separate visibility from clicks, and branded demand from non-branded growth.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533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68717A"/>
                </a:solidFill>
              </a:rPr>
              <a:t>ORGANIC CLICKS</a:t>
            </a:r>
            <a:endParaRPr lang="en-US" sz="660" dirty="0"/>
          </a:p>
        </p:txBody>
      </p:sp>
      <p:sp>
        <p:nvSpPr>
          <p:cNvPr id="6" name="Text 4"/>
          <p:cNvSpPr/>
          <p:nvPr/>
        </p:nvSpPr>
        <p:spPr>
          <a:xfrm>
            <a:off x="713232" y="15361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[###]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5A853"/>
                </a:solidFill>
              </a:rPr>
              <a:t>[±##%]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514600" y="13533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68717A"/>
                </a:solidFill>
              </a:rPr>
              <a:t>IMPRESSIONS</a:t>
            </a:r>
            <a:endParaRPr lang="en-US" sz="660" dirty="0"/>
          </a:p>
        </p:txBody>
      </p:sp>
      <p:sp>
        <p:nvSpPr>
          <p:cNvPr id="9" name="Text 7"/>
          <p:cNvSpPr/>
          <p:nvPr/>
        </p:nvSpPr>
        <p:spPr>
          <a:xfrm>
            <a:off x="2514600" y="15361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[###]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600" y="18288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D9CDB"/>
                </a:solidFill>
              </a:rPr>
              <a:t>[±##%]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15968" y="13533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68717A"/>
                </a:solidFill>
              </a:rPr>
              <a:t>CTR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315968" y="15361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[##%]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15968" y="18288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2994A"/>
                </a:solidFill>
              </a:rPr>
              <a:t>[±## pts]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126480" y="13533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68717A"/>
                </a:solidFill>
              </a:rPr>
              <a:t>AVG. POSITION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6126480" y="15361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[#.#]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7F79"/>
                </a:solidFill>
              </a:rPr>
              <a:t>[improved / declined]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183880" y="1353312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68717A"/>
                </a:solidFill>
              </a:rPr>
              <a:t>NON-BRAND GROWTH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8183880" y="15361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</a:rPr>
              <a:t>[###]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83880" y="1828800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4BDB"/>
                </a:solidFill>
              </a:rPr>
              <a:t>[±##%]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29992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B4F"/>
                </a:solidFill>
              </a:rPr>
              <a:t>Search interpretation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4564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Are the right people finding the client?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Is visibility increasing on priority topics?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Are search results earning the click?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• Are clicks leading to meaningful actions?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199632" y="274320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DDF2EE"/>
          </a:solidFill>
          <a:ln w="8890">
            <a:solidFill>
              <a:srgbClr val="DDF2E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73952" y="29992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3B4F"/>
                </a:solidFill>
              </a:rPr>
              <a:t>Priority query themes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3952" y="34564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1. [High-impression, low-CTR theme]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2. [Near-page-one or page-one opportunity]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3. [Branded / rebrand / location demand]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02124"/>
                </a:solidFill>
              </a:rPr>
              <a:t>4. [AI search visibility where evidence exists]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86384" y="548640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F79"/>
                </a:solidFill>
              </a:rPr>
              <a:t>Do not treat GSC impressions alone as content strategy. Connect search opportunity to audience, offer, proof, and next action.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&amp; Page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Interpret pages by role, not just by traffic.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DDF2EE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527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3B4F"/>
                </a:solidFill>
              </a:rPr>
              <a:t>Conversion drivers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86968" y="1856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Pages that move visitors toward primary outcomes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886968" y="228600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B7F79"/>
                </a:solidFill>
              </a:rPr>
              <a:t>[Page / offer / CTA]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6236208" y="13258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15270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3B4F"/>
                </a:solidFill>
              </a:rPr>
              <a:t>Discovery pages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464808" y="1856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Pages earning visibility or new visitor attention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6464808" y="228600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B7F79"/>
                </a:solidFill>
              </a:rPr>
              <a:t>[Page / query theme]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58368" y="31546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3355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3B4F"/>
                </a:solidFill>
              </a:rPr>
              <a:t>Awareness pages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86968" y="3685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Useful education that may need a softer next step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886968" y="411480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B7F79"/>
                </a:solidFill>
              </a:rPr>
              <a:t>[Page / content theme]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236208" y="31546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FF7D9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64808" y="3355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3B4F"/>
                </a:solidFill>
              </a:rPr>
              <a:t>Technical risk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464808" y="3685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02124"/>
                </a:solidFill>
              </a:rPr>
              <a:t>Broken paths, 404s, slow pages, tracking or UX issues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464808" y="411480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B7F79"/>
                </a:solidFill>
              </a:rPr>
              <a:t>[Issue / page]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22960" y="5349240"/>
            <a:ext cx="10287000" cy="402336"/>
          </a:xfrm>
          <a:prstGeom prst="roundRect">
            <a:avLst>
              <a:gd name="adj" fmla="val 18182"/>
            </a:avLst>
          </a:prstGeom>
          <a:solidFill>
            <a:srgbClr val="F5F7F8"/>
          </a:solidFill>
          <a:ln w="8890">
            <a:solidFill>
              <a:srgbClr val="D3D8DE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128" y="5504688"/>
            <a:ext cx="9875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13B4F"/>
                </a:solidFill>
              </a:rPr>
              <a:t>Page role determines the KPI. A service page, awareness article, 404 page, and donation page should not be judged by the same metric.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Channel Modules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Include only the sections that are relevant to the client’s CARE scope and evidence.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990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3B4F"/>
                </a:solidFill>
              </a:rPr>
              <a:t>Email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2258568" y="139903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Open rate, click rate, unsubscribes, conversion support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36208" y="123444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39903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3B4F"/>
                </a:solidFill>
              </a:rPr>
              <a:t>Social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7836408" y="139903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Sessions, engagement, channel quality, UTM issues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242316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5877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3B4F"/>
                </a:solidFill>
              </a:rPr>
              <a:t>Paid Media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2258568" y="2587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Spend, traffic, conversion quality, cost per primary outcome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36208" y="242316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258775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3B4F"/>
                </a:solidFill>
              </a:rPr>
              <a:t>Video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7836408" y="25877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Views, watch time, retention, website/app contribution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" y="361188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776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3B4F"/>
                </a:solidFill>
              </a:rPr>
              <a:t>Referrals / Partners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2258568" y="37764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Partner traffic, quality, pipeline or mission relevance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36208" y="361188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FF7D9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3776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3B4F"/>
                </a:solidFill>
              </a:rPr>
              <a:t>Donations / Ecommerce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7836408" y="37764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Revenue, donors/orders, average value, attribution limits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" y="48006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4965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3B4F"/>
                </a:solidFill>
              </a:rPr>
              <a:t>App / Product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2258568" y="49651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Installs, store taps, active users, retention, handoff gaps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36208" y="4800600"/>
            <a:ext cx="5074920" cy="841248"/>
          </a:xfrm>
          <a:prstGeom prst="roundRect">
            <a:avLst>
              <a:gd name="adj" fmla="val 6522"/>
            </a:avLst>
          </a:prstGeom>
          <a:solidFill>
            <a:srgbClr val="F5F7F8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4965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13B4F"/>
                </a:solidFill>
              </a:rPr>
              <a:t>CRM / Pipeline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7836408" y="49651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Contacts, qualified progression, opportunities, lifecycle limits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Opportunities &amp;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Every recommendation should trace to evidence, business relevance, and a next action.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37744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435608"/>
            <a:ext cx="2212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Opportunity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2926080" y="1325880"/>
            <a:ext cx="283464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8376" y="1435608"/>
            <a:ext cx="2670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Evidence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5760720" y="1325880"/>
            <a:ext cx="283464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43016" y="1435608"/>
            <a:ext cx="2670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Business relevance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8595360" y="1325880"/>
            <a:ext cx="2834640" cy="384048"/>
          </a:xfrm>
          <a:prstGeom prst="rect">
            <a:avLst/>
          </a:prstGeom>
          <a:solidFill>
            <a:srgbClr val="113B4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77656" y="1435608"/>
            <a:ext cx="2670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Next action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48640" y="1709928"/>
            <a:ext cx="2377440" cy="749808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8745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[Opportunity 1]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26080" y="1709928"/>
            <a:ext cx="2834640" cy="749808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8376" y="18745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[What supports it]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0" y="1709928"/>
            <a:ext cx="2834640" cy="749808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43016" y="18745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[Why it matters]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95360" y="1709928"/>
            <a:ext cx="2834640" cy="749808"/>
          </a:xfrm>
          <a:prstGeom prst="rect">
            <a:avLst/>
          </a:prstGeom>
          <a:solidFill>
            <a:srgbClr val="DDF2EE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77656" y="1874520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[Owner + timing]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2459736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262432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[Opportunity 2]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26080" y="2459736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08376" y="26243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[What supports it]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60720" y="2459736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43016" y="26243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[Why it matters]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95360" y="2459736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77656" y="26243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[Owner + timing]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209544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337413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[Opportunity 3]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926080" y="320954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8376" y="337413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[What supports it]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60720" y="320954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3016" y="337413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[Why it matters]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595360" y="320954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77656" y="337413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[Owner + timing]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3959352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" y="412394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[Opportunity 4]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926080" y="3959352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08376" y="412394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[What supports it]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0720" y="3959352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43016" y="412394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[Why it matters]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95360" y="3959352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8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77656" y="4123944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[Owner + timing]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" y="5257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7F79"/>
                </a:solidFill>
              </a:rPr>
              <a:t>Opportunity rule: high impressions, high traffic, or strong engagement only become recommendations when they connect to client objectives and a meaningful next action.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74320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Metric Definitions &amp; Data Quality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3776" y="74980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8717A"/>
                </a:solidFill>
              </a:rPr>
              <a:t>Keep this slide available so the report remains comparable over time.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475488" y="1024128"/>
            <a:ext cx="11201400" cy="0"/>
          </a:xfrm>
          <a:prstGeom prst="line">
            <a:avLst/>
          </a:prstGeom>
          <a:noFill/>
          <a:ln w="7620">
            <a:solidFill>
              <a:srgbClr val="D3D8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89888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124"/>
                </a:solidFill>
              </a:rPr>
              <a:t>Metric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834640" y="1389888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Platform definition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40680" y="1389888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Client definition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12480" y="1389888"/>
            <a:ext cx="2880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Known limitation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124"/>
                </a:solidFill>
              </a:rPr>
              <a:t>[Primary outcome]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83464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[System definition]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40680" y="192024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[Business meaning]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0" y="1920240"/>
            <a:ext cx="2880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[Attribution / quality note]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889504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450592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124"/>
                </a:solidFill>
              </a:rPr>
              <a:t>[Conversion]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283464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[Event or form definition]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40680" y="2450592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[Meaningful action]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2450592"/>
            <a:ext cx="2880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[May not equal qualified demand]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3419856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980944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124"/>
                </a:solidFill>
              </a:rPr>
              <a:t>[Engagement]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834640" y="2980944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[Platform definition]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40680" y="2980944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[Behavioral signal]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2980944"/>
            <a:ext cx="2880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[Not a business outcome alone]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" y="3950208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511296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124"/>
                </a:solidFill>
              </a:rPr>
              <a:t>[Organic clicks]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2834640" y="3511296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[GSC click]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40680" y="3511296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[Search visit signal]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12480" y="3511296"/>
            <a:ext cx="2880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[Not equal to GA4 session]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4480560"/>
            <a:ext cx="10899648" cy="0"/>
          </a:xfrm>
          <a:prstGeom prst="line">
            <a:avLst/>
          </a:prstGeom>
          <a:noFill/>
          <a:ln w="6350">
            <a:solidFill>
              <a:srgbClr val="D3D8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02124"/>
                </a:solidFill>
              </a:rPr>
              <a:t>[CRM outcome]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2834640" y="4041648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[Lifecycle/source field]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40680" y="4041648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[Downstream quality]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041648"/>
            <a:ext cx="28803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02124"/>
                </a:solidFill>
              </a:rPr>
              <a:t>[Depends on source hygiene]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9808" y="5074920"/>
            <a:ext cx="10561320" cy="475488"/>
          </a:xfrm>
          <a:prstGeom prst="roundRect">
            <a:avLst>
              <a:gd name="adj" fmla="val 15385"/>
            </a:avLst>
          </a:prstGeom>
          <a:solidFill>
            <a:srgbClr val="FFF7D9"/>
          </a:solidFill>
          <a:ln w="8890">
            <a:solidFill>
              <a:srgbClr val="FFF7D9"/>
            </a:solidFill>
            <a:prstDash val="solid"/>
          </a:ln>
          <a:effectLst>
            <a:outerShdw sx="100000" sy="100000" kx="0" ky="0" algn="bl" rotWithShape="0" blurRad="15240" dist="889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60120" y="5257800"/>
            <a:ext cx="9966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3B4F"/>
                </a:solidFill>
              </a:rPr>
              <a:t>Report change log: note tracking changes, definition changes, major website changes, campaign launches, and known context that may affect period comparability.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2336" y="6510528"/>
            <a:ext cx="5760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SimpliCARE | GS-CARE-001 standardized client-facing report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1649456" y="65105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8717A"/>
                </a:solidFill>
              </a:rPr>
              <a:t>15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SimpliCreative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GS-CARE-001 Standardized Marketing Performance Intelligence Report</dc:title>
  <dc:subject>Standardized Client-Facing Marketing Performance Intelligence Report</dc:subject>
  <dc:creator>SimpliCreative</dc:creator>
  <cp:lastModifiedBy>SimpliCreative</cp:lastModifiedBy>
  <cp:revision>1</cp:revision>
  <dcterms:created xsi:type="dcterms:W3CDTF">2026-09-05T01:23:52Z</dcterms:created>
  <dcterms:modified xsi:type="dcterms:W3CDTF">2026-09-05T01:23:52Z</dcterms:modified>
</cp:coreProperties>
</file>