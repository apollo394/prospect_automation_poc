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CARE-001 v1.1 and CARE-002 v1.1 define the Discoverability &amp; Content Opportunity workflow. Calibrated against Hively SEO reports and HereApp search/detail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Hively Q1/Q2 SEO reports summarize high-impression, low-CTR opportunities and recommendations before detailing query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CARE-002 requires approved sources, source records, data quality, and distinguishing GSC observations, client evidence, external research, AI interpretation, and strategist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CARE-002 defines query normalization, intent classification, and query clustering. Hively reports separate branded vs non-branded queries and high-impression/low-CTR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Hively Q1/Q2 and HereApp Q2 distinguish branded terms from non-branded growth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Hively reports include keyword opportunity tables for high-impression, low-CTR queries. CARE-002 requires a business relevance check before topic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CARE-002 requires existing content mapping and asks whether existing content should be improved instead of creating net-new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CARE-002 defines Content Opportunity Records with topic, search evidence, query cluster, intent, audience, offer, existing content, opportunity type, business relevance, format, angle, proof, CTA, priority, confidence, and human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CARE-002 business relevance check and Opportunity Record fields require confidence, limitations, effort/dependency, priority, and human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CARE-002 allows suggested content output with opportunity, query cluster, intent, audience, business connection, format, angle, outline, proof, CTA, measurement, and priority.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CARE-001 uses observation -&gt; hypothesis -&gt; change -&gt; measurement -&gt; learning. CARE-002 includes outcome tracking after recommendations are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CARE-002 permanent guardrails and output statuses.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113B4F"/>
          </a:solidFill>
          <a:ln w="12700">
            <a:solidFill>
              <a:srgbClr val="113B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1005840"/>
            <a:ext cx="1325880" cy="237744"/>
          </a:xfrm>
          <a:prstGeom prst="roundRect">
            <a:avLst>
              <a:gd name="adj" fmla="val 15385"/>
            </a:avLst>
          </a:prstGeom>
          <a:solidFill>
            <a:srgbClr val="0B7F79"/>
          </a:solidFill>
          <a:ln w="12700">
            <a:solidFill>
              <a:srgbClr val="0B7F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1074420"/>
            <a:ext cx="11430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GS-CARE-003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658368" y="1517904"/>
            <a:ext cx="6355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[Client Name]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Discoverability &amp; Content Opportunity Report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94944" y="2926080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17A"/>
                </a:solidFill>
              </a:rPr>
              <a:t>[Monthly / Quarterly / Annual]  |  [Current period] vs [comparison period]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4944" y="3419856"/>
            <a:ext cx="914400" cy="0"/>
          </a:xfrm>
          <a:prstGeom prst="line">
            <a:avLst/>
          </a:prstGeom>
          <a:noFill/>
          <a:ln w="38100">
            <a:solidFill>
              <a:srgbClr val="F7C9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657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02124"/>
                </a:solidFill>
              </a:rPr>
              <a:t>Prepared by SimpliCreative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348472" y="1783080"/>
            <a:ext cx="2788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Search evidence becomes content opportunity only after intent, audience, business relevance, and proof checks.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75904" y="3154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AE7EC"/>
                </a:solidFill>
              </a:rPr>
              <a:t>GSC query data ≠ content strategy by itself.</a:t>
            </a:r>
            <a:endParaRPr lang="en-US" sz="11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Opportunity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The short version before query and content detail.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25880"/>
            <a:ext cx="55778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16642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Opportunity story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1832" y="2103120"/>
            <a:ext cx="4892040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[Summarize what search evidence shows, where demand is emerging, which audience/offer it connects to, what is currently missing, and the top 1–3 content opportunities.]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3730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F79"/>
                </a:solidFill>
              </a:rPr>
              <a:t>Decision needed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41832" y="404164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B4F"/>
                </a:solidFill>
              </a:rPr>
              <a:t>[Approve / defer / validate / assign the recommended opportunities]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56832" y="1325880"/>
            <a:ext cx="21488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56832" y="1325880"/>
            <a:ext cx="2148840" cy="0"/>
          </a:xfrm>
          <a:prstGeom prst="line">
            <a:avLst/>
          </a:prstGeom>
          <a:noFill/>
          <a:ln w="26670">
            <a:solidFill>
              <a:srgbClr val="2D9C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48272" y="1453896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8717A"/>
                </a:solidFill>
              </a:rPr>
              <a:t>SEARCH VISIBILITY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766560" y="1737360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[###]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821424" y="2258568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8717A"/>
                </a:solidFill>
              </a:rPr>
              <a:t>Impressions or organic clicks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9034272" y="1325880"/>
            <a:ext cx="21488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034272" y="1325880"/>
            <a:ext cx="2148840" cy="0"/>
          </a:xfrm>
          <a:prstGeom prst="line">
            <a:avLst/>
          </a:prstGeom>
          <a:noFill/>
          <a:ln w="26670">
            <a:solidFill>
              <a:srgbClr val="F299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25712" y="1453896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8717A"/>
                </a:solidFill>
              </a:rPr>
              <a:t>PRIORITY GAPS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9144000" y="1737360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[#]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198864" y="2258568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8717A"/>
                </a:solidFill>
              </a:rPr>
              <a:t>Relevant clusters needing action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6656832" y="3154680"/>
            <a:ext cx="21488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56832" y="3154680"/>
            <a:ext cx="2148840" cy="0"/>
          </a:xfrm>
          <a:prstGeom prst="line">
            <a:avLst/>
          </a:prstGeom>
          <a:noFill/>
          <a:ln w="26670">
            <a:solidFill>
              <a:srgbClr val="35A8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48272" y="3282696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8717A"/>
                </a:solidFill>
              </a:rPr>
              <a:t>QUICK WINS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766560" y="3566160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[#]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821424" y="4087368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8717A"/>
                </a:solidFill>
              </a:rPr>
              <a:t>Improve / rewrite / consolidate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9034272" y="3154680"/>
            <a:ext cx="21488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34272" y="3154680"/>
            <a:ext cx="2148840" cy="0"/>
          </a:xfrm>
          <a:prstGeom prst="line">
            <a:avLst/>
          </a:prstGeom>
          <a:noFill/>
          <a:ln w="26670">
            <a:solidFill>
              <a:srgbClr val="0B7F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25712" y="3282696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8717A"/>
                </a:solidFill>
              </a:rPr>
              <a:t>NEW CONTENT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9144000" y="3566160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[#]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198864" y="4087368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8717A"/>
                </a:solidFill>
              </a:rPr>
              <a:t>Net-new page or resource ideas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402336" y="6510528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GS-CARE-003 Discoverability &amp; Content Opportunity Report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Base &amp; Data Quality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Make the source and limits visible before recommendations.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298448"/>
            <a:ext cx="187452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08176"/>
            <a:ext cx="1728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Source</a:t>
            </a:r>
            <a:endParaRPr lang="en-US" sz="740" dirty="0"/>
          </a:p>
        </p:txBody>
      </p:sp>
      <p:sp>
        <p:nvSpPr>
          <p:cNvPr id="7" name="Shape 5"/>
          <p:cNvSpPr/>
          <p:nvPr/>
        </p:nvSpPr>
        <p:spPr>
          <a:xfrm>
            <a:off x="2350008" y="1298448"/>
            <a:ext cx="278892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408176"/>
            <a:ext cx="26426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Use in this report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5138928" y="1298448"/>
            <a:ext cx="196596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408176"/>
            <a:ext cx="1819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Quality status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7104888" y="1298448"/>
            <a:ext cx="425196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1408176"/>
            <a:ext cx="4105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Limitation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475488" y="1682496"/>
            <a:ext cx="18745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810512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Google Search Console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2350008" y="1682496"/>
            <a:ext cx="27889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1810512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Queries, pages, clicks, impressions, CTR, position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5138928" y="1682496"/>
            <a:ext cx="1965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1810512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[Reliable / limitations]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7104888" y="1682496"/>
            <a:ext cx="4251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1810512"/>
            <a:ext cx="4105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Search visibility, not business impact alone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475488" y="2286000"/>
            <a:ext cx="1874520" cy="603504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414016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GA4 / analytics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2350008" y="2286000"/>
            <a:ext cx="2788920" cy="603504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23160" y="2414016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Landing-page activity and engagement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5138928" y="2286000"/>
            <a:ext cx="1965960" cy="603504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2414016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[Reliable / limitations]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7104888" y="2286000"/>
            <a:ext cx="4251960" cy="603504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78040" y="2414016"/>
            <a:ext cx="4105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Session behavior ≠ qualified demand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475488" y="2889504"/>
            <a:ext cx="18745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017520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CRM / conversions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2350008" y="2889504"/>
            <a:ext cx="27889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23160" y="3017520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Downstream progression where available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5138928" y="2889504"/>
            <a:ext cx="1965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3017520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[Usable / insufficient]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7104888" y="2889504"/>
            <a:ext cx="4251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78040" y="3017520"/>
            <a:ext cx="4105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Attribution depends on source and lifecycle quality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475488" y="3493008"/>
            <a:ext cx="1874520" cy="603504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621024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Content inventory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2350008" y="3493008"/>
            <a:ext cx="2788920" cy="603504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23160" y="3621024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Existing pages and resource coverage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5138928" y="3493008"/>
            <a:ext cx="1965960" cy="603504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0" y="3621024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[Current / needs review]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7104888" y="3493008"/>
            <a:ext cx="4251960" cy="603504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78040" y="3621024"/>
            <a:ext cx="4105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Missing content inventory weakens gap detection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475488" y="4096512"/>
            <a:ext cx="18745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22452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Client strategy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2350008" y="4096512"/>
            <a:ext cx="27889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23160" y="4224528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Audience, offers, priorities, proof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5138928" y="4096512"/>
            <a:ext cx="1965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0" y="4224528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[Approved]</a:t>
            </a:r>
            <a:endParaRPr lang="en-US" sz="740" dirty="0"/>
          </a:p>
        </p:txBody>
      </p:sp>
      <p:sp>
        <p:nvSpPr>
          <p:cNvPr id="51" name="Shape 49"/>
          <p:cNvSpPr/>
          <p:nvPr/>
        </p:nvSpPr>
        <p:spPr>
          <a:xfrm>
            <a:off x="7104888" y="4096512"/>
            <a:ext cx="4251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78040" y="4224528"/>
            <a:ext cx="4105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Client context does not validate search demand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777240" y="5349240"/>
            <a:ext cx="10332720" cy="438912"/>
          </a:xfrm>
          <a:prstGeom prst="roundRect">
            <a:avLst>
              <a:gd name="adj" fmla="val 16667"/>
            </a:avLst>
          </a:prstGeom>
          <a:solidFill>
            <a:srgbClr val="FFF7D9"/>
          </a:solidFill>
          <a:ln w="8890">
            <a:solidFill>
              <a:srgbClr val="FFF7D9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987552" y="5522976"/>
            <a:ext cx="9784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3B4F"/>
                </a:solidFill>
              </a:rPr>
              <a:t>Guardrail: external research may strengthen an opportunity, but it is not client performance evidence.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02336" y="6510528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GS-CARE-003 Discoverability &amp; Content Opportunity Report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Priority Query Clusters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Group related searches by intent and business relevance, not just shared words.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251460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435608"/>
            <a:ext cx="23500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Cluster</a:t>
            </a:r>
            <a:endParaRPr lang="en-US" sz="740" dirty="0"/>
          </a:p>
        </p:txBody>
      </p:sp>
      <p:sp>
        <p:nvSpPr>
          <p:cNvPr id="7" name="Shape 5"/>
          <p:cNvSpPr/>
          <p:nvPr/>
        </p:nvSpPr>
        <p:spPr>
          <a:xfrm>
            <a:off x="3063240" y="1325880"/>
            <a:ext cx="288036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45536" y="1435608"/>
            <a:ext cx="2715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Search evidence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5943600" y="1325880"/>
            <a:ext cx="233172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25896" y="1435608"/>
            <a:ext cx="2167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Intent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8275320" y="1325880"/>
            <a:ext cx="306324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57616" y="1435608"/>
            <a:ext cx="28986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Business relevance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548640" y="1709928"/>
            <a:ext cx="2514600" cy="694944"/>
          </a:xfrm>
          <a:prstGeom prst="rect">
            <a:avLst/>
          </a:prstGeom>
          <a:solidFill>
            <a:srgbClr val="DDF2EE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1856232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02124"/>
                </a:solidFill>
              </a:rPr>
              <a:t>[Cluster 1: priority service / location]</a:t>
            </a:r>
            <a:endParaRPr lang="en-US" sz="790" dirty="0"/>
          </a:p>
        </p:txBody>
      </p:sp>
      <p:sp>
        <p:nvSpPr>
          <p:cNvPr id="15" name="Shape 13"/>
          <p:cNvSpPr/>
          <p:nvPr/>
        </p:nvSpPr>
        <p:spPr>
          <a:xfrm>
            <a:off x="3063240" y="1709928"/>
            <a:ext cx="2880360" cy="694944"/>
          </a:xfrm>
          <a:prstGeom prst="rect">
            <a:avLst/>
          </a:prstGeom>
          <a:solidFill>
            <a:srgbClr val="DDF2EE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45536" y="185623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02124"/>
                </a:solidFill>
              </a:rPr>
              <a:t>[Clicks / impressions / CTR / position]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5943600" y="1709928"/>
            <a:ext cx="2331720" cy="694944"/>
          </a:xfrm>
          <a:prstGeom prst="rect">
            <a:avLst/>
          </a:prstGeom>
          <a:solidFill>
            <a:srgbClr val="DDF2EE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25896" y="1856232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02124"/>
                </a:solidFill>
              </a:rPr>
              <a:t>[Problem-aware / commercial / branded]</a:t>
            </a:r>
            <a:endParaRPr lang="en-US" sz="790" dirty="0"/>
          </a:p>
        </p:txBody>
      </p:sp>
      <p:sp>
        <p:nvSpPr>
          <p:cNvPr id="19" name="Shape 17"/>
          <p:cNvSpPr/>
          <p:nvPr/>
        </p:nvSpPr>
        <p:spPr>
          <a:xfrm>
            <a:off x="8275320" y="1709928"/>
            <a:ext cx="3063240" cy="694944"/>
          </a:xfrm>
          <a:prstGeom prst="rect">
            <a:avLst/>
          </a:prstGeom>
          <a:solidFill>
            <a:srgbClr val="DDF2EE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7616" y="1856232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02124"/>
                </a:solidFill>
              </a:rPr>
              <a:t>[Audience + offer connection]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548640" y="2404872"/>
            <a:ext cx="25146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" y="2551176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02124"/>
                </a:solidFill>
              </a:rPr>
              <a:t>[Cluster 2: question / how-to]</a:t>
            </a:r>
            <a:endParaRPr lang="en-US" sz="790" dirty="0"/>
          </a:p>
        </p:txBody>
      </p:sp>
      <p:sp>
        <p:nvSpPr>
          <p:cNvPr id="23" name="Shape 21"/>
          <p:cNvSpPr/>
          <p:nvPr/>
        </p:nvSpPr>
        <p:spPr>
          <a:xfrm>
            <a:off x="3063240" y="2404872"/>
            <a:ext cx="28803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45536" y="2551176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02124"/>
                </a:solidFill>
              </a:rPr>
              <a:t>[Clicks / impressions / CTR / position]</a:t>
            </a:r>
            <a:endParaRPr lang="en-US" sz="790" dirty="0"/>
          </a:p>
        </p:txBody>
      </p:sp>
      <p:sp>
        <p:nvSpPr>
          <p:cNvPr id="25" name="Shape 23"/>
          <p:cNvSpPr/>
          <p:nvPr/>
        </p:nvSpPr>
        <p:spPr>
          <a:xfrm>
            <a:off x="5943600" y="2404872"/>
            <a:ext cx="23317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25896" y="2551176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02124"/>
                </a:solidFill>
              </a:rPr>
              <a:t>[Informational / problem-aware]</a:t>
            </a:r>
            <a:endParaRPr lang="en-US" sz="790" dirty="0"/>
          </a:p>
        </p:txBody>
      </p:sp>
      <p:sp>
        <p:nvSpPr>
          <p:cNvPr id="27" name="Shape 25"/>
          <p:cNvSpPr/>
          <p:nvPr/>
        </p:nvSpPr>
        <p:spPr>
          <a:xfrm>
            <a:off x="8275320" y="2404872"/>
            <a:ext cx="30632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57616" y="2551176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02124"/>
                </a:solidFill>
              </a:rPr>
              <a:t>[Education or lead-in opportunity]</a:t>
            </a:r>
            <a:endParaRPr lang="en-US" sz="790" dirty="0"/>
          </a:p>
        </p:txBody>
      </p:sp>
      <p:sp>
        <p:nvSpPr>
          <p:cNvPr id="29" name="Shape 27"/>
          <p:cNvSpPr/>
          <p:nvPr/>
        </p:nvSpPr>
        <p:spPr>
          <a:xfrm>
            <a:off x="548640" y="3099816"/>
            <a:ext cx="25146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" y="3246120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02124"/>
                </a:solidFill>
              </a:rPr>
              <a:t>[Cluster 3: comparison / evaluation]</a:t>
            </a:r>
            <a:endParaRPr lang="en-US" sz="790" dirty="0"/>
          </a:p>
        </p:txBody>
      </p:sp>
      <p:sp>
        <p:nvSpPr>
          <p:cNvPr id="31" name="Shape 29"/>
          <p:cNvSpPr/>
          <p:nvPr/>
        </p:nvSpPr>
        <p:spPr>
          <a:xfrm>
            <a:off x="3063240" y="3099816"/>
            <a:ext cx="28803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45536" y="3246120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02124"/>
                </a:solidFill>
              </a:rPr>
              <a:t>[Clicks / impressions / CTR / position]</a:t>
            </a:r>
            <a:endParaRPr lang="en-US" sz="790" dirty="0"/>
          </a:p>
        </p:txBody>
      </p:sp>
      <p:sp>
        <p:nvSpPr>
          <p:cNvPr id="33" name="Shape 31"/>
          <p:cNvSpPr/>
          <p:nvPr/>
        </p:nvSpPr>
        <p:spPr>
          <a:xfrm>
            <a:off x="5943600" y="3099816"/>
            <a:ext cx="23317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25896" y="3246120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02124"/>
                </a:solidFill>
              </a:rPr>
              <a:t>[Comparison / decision]</a:t>
            </a:r>
            <a:endParaRPr lang="en-US" sz="790" dirty="0"/>
          </a:p>
        </p:txBody>
      </p:sp>
      <p:sp>
        <p:nvSpPr>
          <p:cNvPr id="35" name="Shape 33"/>
          <p:cNvSpPr/>
          <p:nvPr/>
        </p:nvSpPr>
        <p:spPr>
          <a:xfrm>
            <a:off x="8275320" y="3099816"/>
            <a:ext cx="30632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57616" y="3246120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02124"/>
                </a:solidFill>
              </a:rPr>
              <a:t>[Proof / conversion path]</a:t>
            </a:r>
            <a:endParaRPr lang="en-US" sz="790" dirty="0"/>
          </a:p>
        </p:txBody>
      </p:sp>
      <p:sp>
        <p:nvSpPr>
          <p:cNvPr id="37" name="Shape 35"/>
          <p:cNvSpPr/>
          <p:nvPr/>
        </p:nvSpPr>
        <p:spPr>
          <a:xfrm>
            <a:off x="548640" y="3794760"/>
            <a:ext cx="25146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" y="3941064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02124"/>
                </a:solidFill>
              </a:rPr>
              <a:t>[Cluster 4: branded / rebrand]</a:t>
            </a:r>
            <a:endParaRPr lang="en-US" sz="790" dirty="0"/>
          </a:p>
        </p:txBody>
      </p:sp>
      <p:sp>
        <p:nvSpPr>
          <p:cNvPr id="39" name="Shape 37"/>
          <p:cNvSpPr/>
          <p:nvPr/>
        </p:nvSpPr>
        <p:spPr>
          <a:xfrm>
            <a:off x="3063240" y="3794760"/>
            <a:ext cx="28803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45536" y="3941064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02124"/>
                </a:solidFill>
              </a:rPr>
              <a:t>[Clicks / impressions / CTR / position]</a:t>
            </a:r>
            <a:endParaRPr lang="en-US" sz="790" dirty="0"/>
          </a:p>
        </p:txBody>
      </p:sp>
      <p:sp>
        <p:nvSpPr>
          <p:cNvPr id="41" name="Shape 39"/>
          <p:cNvSpPr/>
          <p:nvPr/>
        </p:nvSpPr>
        <p:spPr>
          <a:xfrm>
            <a:off x="5943600" y="3794760"/>
            <a:ext cx="23317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25896" y="3941064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02124"/>
                </a:solidFill>
              </a:rPr>
              <a:t>[Branded]</a:t>
            </a:r>
            <a:endParaRPr lang="en-US" sz="790" dirty="0"/>
          </a:p>
        </p:txBody>
      </p:sp>
      <p:sp>
        <p:nvSpPr>
          <p:cNvPr id="43" name="Shape 41"/>
          <p:cNvSpPr/>
          <p:nvPr/>
        </p:nvSpPr>
        <p:spPr>
          <a:xfrm>
            <a:off x="8275320" y="3794760"/>
            <a:ext cx="30632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57616" y="3941064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02124"/>
                </a:solidFill>
              </a:rPr>
              <a:t>[Brand demand / trust signal]</a:t>
            </a:r>
            <a:endParaRPr lang="en-US" sz="790" dirty="0"/>
          </a:p>
        </p:txBody>
      </p:sp>
      <p:sp>
        <p:nvSpPr>
          <p:cNvPr id="45" name="Text 43"/>
          <p:cNvSpPr/>
          <p:nvPr/>
        </p:nvSpPr>
        <p:spPr>
          <a:xfrm>
            <a:off x="749808" y="4956048"/>
            <a:ext cx="9784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7F79"/>
                </a:solidFill>
              </a:rPr>
              <a:t>Cluster rule: do not erase meaningful intent differences just to make cleaner groups.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02336" y="6510528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GS-CARE-003 Discoverability &amp; Content Opportunity Report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Branded vs. Non-Branded Opportunity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Separate brand health from growth demand.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325880"/>
            <a:ext cx="5166360" cy="3566160"/>
          </a:xfrm>
          <a:prstGeom prst="roundRect">
            <a:avLst>
              <a:gd name="adj" fmla="val 2051"/>
            </a:avLst>
          </a:prstGeom>
          <a:solidFill>
            <a:srgbClr val="DDF2EE"/>
          </a:solidFill>
          <a:ln w="8890">
            <a:solidFill>
              <a:srgbClr val="DDF2E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09360" y="1325880"/>
            <a:ext cx="51663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691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3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Branded demand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22128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F79"/>
                </a:solidFill>
              </a:rPr>
              <a:t>What it tells us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2542032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02124"/>
                </a:solidFill>
              </a:rPr>
              <a:t>• Brand recognition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02124"/>
                </a:solidFill>
              </a:rPr>
              <a:t>• Returning / referral-driven demand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02124"/>
                </a:solidFill>
              </a:rPr>
              <a:t>• Misspellings or rebrand adoption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02124"/>
                </a:solidFill>
              </a:rPr>
              <a:t>• Reputation and navigational intent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1024128" y="393192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3B4F"/>
                </a:solidFill>
              </a:rPr>
              <a:t>Typical action: protect rankings, clean title/meta, support location or service modifiers.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6601968" y="16916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3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Non-branded demand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0256" y="22128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F79"/>
                </a:solidFill>
              </a:rPr>
              <a:t>What it tells us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20256" y="2542032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02124"/>
                </a:solidFill>
              </a:rPr>
              <a:t>• Category demand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02124"/>
                </a:solidFill>
              </a:rPr>
              <a:t>• Problem-aware searches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02124"/>
                </a:solidFill>
              </a:rPr>
              <a:t>• Local/service need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02124"/>
                </a:solidFill>
              </a:rPr>
              <a:t>• Growth opportunity beyond people already looking for the brand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6620256" y="393192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3B4F"/>
                </a:solidFill>
              </a:rPr>
              <a:t>Typical action: improve intent match, create or revise pages, add proof and conversion paths.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02336" y="6510528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GS-CARE-003 Discoverability &amp; Content Opportunity Report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High-Impression, Low-CTR Opportunities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These are candidates for titles, descriptions, intent-matched content, or page improvements.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61872"/>
            <a:ext cx="274320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371600"/>
            <a:ext cx="2596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</a:rPr>
              <a:t>Query / theme</a:t>
            </a:r>
            <a:endParaRPr lang="en-US" sz="730" dirty="0"/>
          </a:p>
        </p:txBody>
      </p:sp>
      <p:sp>
        <p:nvSpPr>
          <p:cNvPr id="7" name="Shape 5"/>
          <p:cNvSpPr/>
          <p:nvPr/>
        </p:nvSpPr>
        <p:spPr>
          <a:xfrm>
            <a:off x="3246120" y="1261872"/>
            <a:ext cx="205740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9272" y="1371600"/>
            <a:ext cx="19110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</a:rPr>
              <a:t>Evidence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5303520" y="1261872"/>
            <a:ext cx="297180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76672" y="1371600"/>
            <a:ext cx="28254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</a:rPr>
              <a:t>Why it matters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8275320" y="1261872"/>
            <a:ext cx="320040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1371600"/>
            <a:ext cx="30540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</a:rPr>
              <a:t>Likely action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502920" y="1645920"/>
            <a:ext cx="2743200" cy="566928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176479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[Query / cluster 1]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3246120" y="1645920"/>
            <a:ext cx="2057400" cy="566928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1764792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[Impr. / CTR / pos.]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5303520" y="1645920"/>
            <a:ext cx="2971800" cy="566928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76672" y="1764792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[Relevant audience + offer]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8275320" y="1645920"/>
            <a:ext cx="3200400" cy="566928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176479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[Rewrite meta / improve page]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502920" y="2212848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233172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[Query / cluster 2]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246120" y="2212848"/>
            <a:ext cx="2057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9272" y="2331720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[Impr. / CTR / pos.]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5303520" y="2212848"/>
            <a:ext cx="2971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2331720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[Local/service demand]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8275320" y="2212848"/>
            <a:ext cx="3200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48472" y="233172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[Dedicated page / FAQ]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502920" y="2779776"/>
            <a:ext cx="2743200" cy="566928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" y="289864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[Query / cluster 3]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3246120" y="2779776"/>
            <a:ext cx="2057400" cy="566928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9272" y="289864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[Impr. / CTR / pos.]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5303520" y="2779776"/>
            <a:ext cx="2971800" cy="566928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76672" y="2898648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[Problem-aware need]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8275320" y="2779776"/>
            <a:ext cx="3200400" cy="566928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48472" y="289864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[Guide / resource]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502920" y="3346704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" y="346557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[Query / cluster 4]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3246120" y="3346704"/>
            <a:ext cx="2057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9272" y="3465576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[Impr. / CTR / pos.]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5303520" y="3346704"/>
            <a:ext cx="2971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76672" y="3465576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[Decision-stage search]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8275320" y="3346704"/>
            <a:ext cx="3200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48472" y="346557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[Proof / comparison content]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502920" y="3913632"/>
            <a:ext cx="2743200" cy="566928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072" y="403250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[Query / cluster 5]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3246120" y="3913632"/>
            <a:ext cx="2057400" cy="566928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19272" y="4032504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[Impr. / CTR / pos.]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5303520" y="3913632"/>
            <a:ext cx="2971800" cy="566928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76672" y="4032504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[Existing visibility but weak click]</a:t>
            </a:r>
            <a:endParaRPr lang="en-US" sz="740" dirty="0"/>
          </a:p>
        </p:txBody>
      </p:sp>
      <p:sp>
        <p:nvSpPr>
          <p:cNvPr id="51" name="Shape 49"/>
          <p:cNvSpPr/>
          <p:nvPr/>
        </p:nvSpPr>
        <p:spPr>
          <a:xfrm>
            <a:off x="8275320" y="3913632"/>
            <a:ext cx="3200400" cy="566928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48472" y="4032504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[Title/meta test]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731520" y="5349240"/>
            <a:ext cx="10378440" cy="411480"/>
          </a:xfrm>
          <a:prstGeom prst="roundRect">
            <a:avLst>
              <a:gd name="adj" fmla="val 17778"/>
            </a:avLst>
          </a:prstGeom>
          <a:solidFill>
            <a:srgbClr val="FFF7D9"/>
          </a:solidFill>
          <a:ln w="8890">
            <a:solidFill>
              <a:srgbClr val="FFF7D9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932688" y="5504688"/>
            <a:ext cx="9966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13B4F"/>
                </a:solidFill>
              </a:rPr>
              <a:t>High impressions ≠ high business value. Confirm audience, offer, expertise, and conversion path before recommending production.</a:t>
            </a:r>
            <a:endParaRPr lang="en-US" sz="830" dirty="0"/>
          </a:p>
        </p:txBody>
      </p:sp>
      <p:sp>
        <p:nvSpPr>
          <p:cNvPr id="55" name="Text 53"/>
          <p:cNvSpPr/>
          <p:nvPr/>
        </p:nvSpPr>
        <p:spPr>
          <a:xfrm>
            <a:off x="402336" y="6510528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GS-CARE-003 Discoverability &amp; Content Opportunity Report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Existing Content Mapping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Before creating something new, check what already exists.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53312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DDF2EE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554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13B4F"/>
                </a:solidFill>
              </a:rPr>
              <a:t>Already served well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914400" y="188366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2124"/>
                </a:solidFill>
              </a:rPr>
              <a:t>Existing page matches intent and performs adequately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914400" y="2313432"/>
            <a:ext cx="4434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B7F79"/>
                </a:solidFill>
              </a:rPr>
              <a:t>Monitor or lightly optimize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6263640" y="1353312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7D9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554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13B4F"/>
                </a:solidFill>
              </a:rPr>
              <a:t>Improve existing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6492240" y="188366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2124"/>
                </a:solidFill>
              </a:rPr>
              <a:t>Relevant page exists but message, structure, proof, or CTA is weak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6492240" y="2313432"/>
            <a:ext cx="4434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B7F79"/>
                </a:solidFill>
              </a:rPr>
              <a:t>Revise / optimize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85800" y="3227832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429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13B4F"/>
                </a:solidFill>
              </a:rPr>
              <a:t>Create new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914400" y="375818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2124"/>
                </a:solidFill>
              </a:rPr>
              <a:t>No appropriate destination page for the query or buyer need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914400" y="4187952"/>
            <a:ext cx="4434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B7F79"/>
                </a:solidFill>
              </a:rPr>
              <a:t>New page / guide / resource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6263640" y="3227832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3429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13B4F"/>
                </a:solidFill>
              </a:rPr>
              <a:t>Consolidate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6492240" y="375818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2124"/>
                </a:solidFill>
              </a:rPr>
              <a:t>Multiple pages overlap and compete for the same intent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492240" y="4187952"/>
            <a:ext cx="4434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B7F79"/>
                </a:solidFill>
              </a:rPr>
              <a:t>Merge / redirect / clarify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402336" y="6510528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GS-CARE-003 Discoverability &amp; Content Opportunity Report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Content Opportunity Records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Each recommendation should be traceable and implementation-ready.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283464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435608"/>
            <a:ext cx="2688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</a:rPr>
              <a:t>Topic / opportunity</a:t>
            </a:r>
            <a:endParaRPr lang="en-US" sz="730" dirty="0"/>
          </a:p>
        </p:txBody>
      </p:sp>
      <p:sp>
        <p:nvSpPr>
          <p:cNvPr id="7" name="Shape 5"/>
          <p:cNvSpPr/>
          <p:nvPr/>
        </p:nvSpPr>
        <p:spPr>
          <a:xfrm>
            <a:off x="3383280" y="1325880"/>
            <a:ext cx="164592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1435608"/>
            <a:ext cx="14996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</a:rPr>
              <a:t>Type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5029200" y="1325880"/>
            <a:ext cx="365760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02352" y="1435608"/>
            <a:ext cx="3511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</a:rPr>
              <a:t>Evidence + intent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8686800" y="1325880"/>
            <a:ext cx="274320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59952" y="1435608"/>
            <a:ext cx="2596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</a:rPr>
              <a:t>Proof / CTA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548640" y="1709928"/>
            <a:ext cx="2834640" cy="713232"/>
          </a:xfrm>
          <a:prstGeom prst="rect">
            <a:avLst/>
          </a:prstGeom>
          <a:solidFill>
            <a:srgbClr val="DDF2EE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1847088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[Topic 1]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3383280" y="1709928"/>
            <a:ext cx="1645920" cy="713232"/>
          </a:xfrm>
          <a:prstGeom prst="rect">
            <a:avLst/>
          </a:prstGeom>
          <a:solidFill>
            <a:srgbClr val="DDF2EE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6432" y="1847088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New / Improve / Consolidate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5029200" y="1709928"/>
            <a:ext cx="3657600" cy="713232"/>
          </a:xfrm>
          <a:prstGeom prst="rect">
            <a:avLst/>
          </a:prstGeom>
          <a:solidFill>
            <a:srgbClr val="DDF2EE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184708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[Query cluster, audience, intent, current page]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8686800" y="1709928"/>
            <a:ext cx="2743200" cy="713232"/>
          </a:xfrm>
          <a:prstGeom prst="rect">
            <a:avLst/>
          </a:prstGeom>
          <a:solidFill>
            <a:srgbClr val="DDF2EE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59952" y="184708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[Proof needed + next action]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548640" y="2423160"/>
            <a:ext cx="28346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560320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[Topic 2]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383280" y="2423160"/>
            <a:ext cx="1645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2560320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New / Improve / Consolidate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5029200" y="2423160"/>
            <a:ext cx="3657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2560320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[Query cluster, audience, intent, current page]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8686800" y="2423160"/>
            <a:ext cx="2743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59952" y="2560320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[Proof needed + next action]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548640" y="3136392"/>
            <a:ext cx="28346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3273552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[Topic 3]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3383280" y="3136392"/>
            <a:ext cx="1645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56432" y="327355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New / Improve / Consolidate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5029200" y="3136392"/>
            <a:ext cx="3657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02352" y="3273552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[Query cluster, audience, intent, current page]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8686800" y="3136392"/>
            <a:ext cx="2743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59952" y="3273552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[Proof needed + next action]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548640" y="3849624"/>
            <a:ext cx="28346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3986784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[Topic 4]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3383280" y="3849624"/>
            <a:ext cx="1645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56432" y="3986784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New / Improve / Consolidate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5029200" y="3849624"/>
            <a:ext cx="3657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02352" y="3986784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[Query cluster, audience, intent, current page]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8686800" y="3849624"/>
            <a:ext cx="2743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59952" y="3986784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[Proof needed + next action]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402336" y="6510528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GS-CARE-003 Discoverability &amp; Content Opportunity Report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Opportunity Prioritization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Prioritize by business relevance, evidence strength, and implementation effort.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371600"/>
            <a:ext cx="4892040" cy="1143000"/>
          </a:xfrm>
          <a:prstGeom prst="roundRect">
            <a:avLst>
              <a:gd name="adj" fmla="val 6400"/>
            </a:avLst>
          </a:prstGeom>
          <a:solidFill>
            <a:srgbClr val="DDF2EE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6002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3B4F"/>
                </a:solidFill>
              </a:rPr>
              <a:t>High priority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93392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2124"/>
                </a:solidFill>
              </a:rPr>
              <a:t>Strong evidence + strong business connection + realistic effort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6236208" y="1371600"/>
            <a:ext cx="4892040" cy="1143000"/>
          </a:xfrm>
          <a:prstGeom prst="roundRect">
            <a:avLst>
              <a:gd name="adj" fmla="val 6400"/>
            </a:avLst>
          </a:prstGeom>
          <a:solidFill>
            <a:srgbClr val="FFF7D9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6002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3B4F"/>
                </a:solidFill>
              </a:rPr>
              <a:t>Validate first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1993392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2124"/>
                </a:solidFill>
              </a:rPr>
              <a:t>Promising signal but missing proof, conversion path, or client input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749808" y="3063240"/>
            <a:ext cx="4892040" cy="1143000"/>
          </a:xfrm>
          <a:prstGeom prst="roundRect">
            <a:avLst>
              <a:gd name="adj" fmla="val 6400"/>
            </a:avLst>
          </a:prstGeom>
          <a:solidFill>
            <a:srgbClr val="F5F7F8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32918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3B4F"/>
                </a:solidFill>
              </a:rPr>
              <a:t>Low priority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685032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2124"/>
                </a:solidFill>
              </a:rPr>
              <a:t>Search volume exists but weak business relevance or low strategic fit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236208" y="3063240"/>
            <a:ext cx="4892040" cy="1143000"/>
          </a:xfrm>
          <a:prstGeom prst="roundRect">
            <a:avLst>
              <a:gd name="adj" fmla="val 6400"/>
            </a:avLst>
          </a:prstGeom>
          <a:solidFill>
            <a:srgbClr val="FDEAE7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32918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3B4F"/>
                </a:solidFill>
              </a:rPr>
              <a:t>Do not pursue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3685032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02124"/>
                </a:solidFill>
              </a:rPr>
              <a:t>No approved audience, offer, proof, or meaningful action connection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960120" y="521208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B7F79"/>
                </a:solidFill>
              </a:rPr>
              <a:t>Priority formula: business relevance + intent fit + evidence strength + conversion path + available proof + implementation effort.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402336" y="6510528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GS-CARE-003 Discoverability &amp; Content Opportunity Report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9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Approved Content Brief Template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Once approved, turn the opportunity into a production-ready brief.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98448"/>
            <a:ext cx="107899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66544"/>
            <a:ext cx="10899648" cy="0"/>
          </a:xfrm>
          <a:prstGeom prst="line">
            <a:avLst/>
          </a:prstGeom>
          <a:noFill/>
          <a:ln w="6350">
            <a:solidFill>
              <a:srgbClr val="D3D8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572768"/>
            <a:ext cx="2103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02124"/>
                </a:solidFill>
              </a:rPr>
              <a:t>Brief field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971800" y="1572768"/>
            <a:ext cx="2560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5669280" y="1572768"/>
            <a:ext cx="2514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02124"/>
                </a:solidFill>
              </a:rPr>
              <a:t>Required content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8339328" y="1572768"/>
            <a:ext cx="2880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640080" y="2596896"/>
            <a:ext cx="10899648" cy="0"/>
          </a:xfrm>
          <a:prstGeom prst="line">
            <a:avLst/>
          </a:prstGeom>
          <a:noFill/>
          <a:ln w="6350">
            <a:solidFill>
              <a:srgbClr val="D3D8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103120"/>
            <a:ext cx="2103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02124"/>
                </a:solidFill>
              </a:rPr>
              <a:t>Content objective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71800" y="2103120"/>
            <a:ext cx="2560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5669280" y="2103120"/>
            <a:ext cx="2514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02124"/>
                </a:solidFill>
              </a:rPr>
              <a:t>[What this should help the audience do or understand]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8339328" y="2103120"/>
            <a:ext cx="2880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0080" y="3072384"/>
            <a:ext cx="10899648" cy="0"/>
          </a:xfrm>
          <a:prstGeom prst="line">
            <a:avLst/>
          </a:prstGeom>
          <a:noFill/>
          <a:ln w="6350">
            <a:solidFill>
              <a:srgbClr val="D3D8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578608"/>
            <a:ext cx="2103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02124"/>
                </a:solidFill>
              </a:rPr>
              <a:t>Audience / intent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71800" y="2578608"/>
            <a:ext cx="2560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5669280" y="2578608"/>
            <a:ext cx="2514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02124"/>
                </a:solidFill>
              </a:rPr>
              <a:t>[Who it serves and what they are trying to solve]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8339328" y="2578608"/>
            <a:ext cx="2880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640080" y="3547872"/>
            <a:ext cx="10899648" cy="0"/>
          </a:xfrm>
          <a:prstGeom prst="line">
            <a:avLst/>
          </a:prstGeom>
          <a:noFill/>
          <a:ln w="6350">
            <a:solidFill>
              <a:srgbClr val="D3D8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054096"/>
            <a:ext cx="2103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02124"/>
                </a:solidFill>
              </a:rPr>
              <a:t>Target query cluster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971800" y="3054096"/>
            <a:ext cx="2560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5669280" y="3054096"/>
            <a:ext cx="2514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02124"/>
                </a:solidFill>
              </a:rPr>
              <a:t>[Queries and evidence summary]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8339328" y="3054096"/>
            <a:ext cx="2880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640080" y="4023360"/>
            <a:ext cx="10899648" cy="0"/>
          </a:xfrm>
          <a:prstGeom prst="line">
            <a:avLst/>
          </a:prstGeom>
          <a:noFill/>
          <a:ln w="6350">
            <a:solidFill>
              <a:srgbClr val="D3D8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3529584"/>
            <a:ext cx="2103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02124"/>
                </a:solidFill>
              </a:rPr>
              <a:t>Recommended format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971800" y="3529584"/>
            <a:ext cx="2560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5669280" y="3529584"/>
            <a:ext cx="2514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02124"/>
                </a:solidFill>
              </a:rPr>
              <a:t>[Landing page / guide / FAQ / article / resource / comparison]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8339328" y="3529584"/>
            <a:ext cx="2880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640080" y="4498848"/>
            <a:ext cx="10899648" cy="0"/>
          </a:xfrm>
          <a:prstGeom prst="line">
            <a:avLst/>
          </a:prstGeom>
          <a:noFill/>
          <a:ln w="6350">
            <a:solidFill>
              <a:srgbClr val="D3D8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4005072"/>
            <a:ext cx="2103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02124"/>
                </a:solidFill>
              </a:rPr>
              <a:t>Suggested angle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971800" y="4005072"/>
            <a:ext cx="2560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5669280" y="4005072"/>
            <a:ext cx="2514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02124"/>
                </a:solidFill>
              </a:rPr>
              <a:t>[How we will answer the need better than current content]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8339328" y="4005072"/>
            <a:ext cx="2880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640080" y="4974336"/>
            <a:ext cx="10899648" cy="0"/>
          </a:xfrm>
          <a:prstGeom prst="line">
            <a:avLst/>
          </a:prstGeom>
          <a:noFill/>
          <a:ln w="6350">
            <a:solidFill>
              <a:srgbClr val="D3D8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4480560"/>
            <a:ext cx="2103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02124"/>
                </a:solidFill>
              </a:rPr>
              <a:t>Proof / expertise needed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971800" y="4480560"/>
            <a:ext cx="2560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5669280" y="4480560"/>
            <a:ext cx="2514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02124"/>
                </a:solidFill>
              </a:rPr>
              <a:t>[Client evidence, examples, stats, eligibility, claims, SME input]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8339328" y="4480560"/>
            <a:ext cx="2880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640080" y="5449824"/>
            <a:ext cx="10899648" cy="0"/>
          </a:xfrm>
          <a:prstGeom prst="line">
            <a:avLst/>
          </a:prstGeom>
          <a:noFill/>
          <a:ln w="6350">
            <a:solidFill>
              <a:srgbClr val="D3D8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" y="4956048"/>
            <a:ext cx="2103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02124"/>
                </a:solidFill>
              </a:rPr>
              <a:t>CTA / next step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971800" y="4956048"/>
            <a:ext cx="2560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5669280" y="4956048"/>
            <a:ext cx="2514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02124"/>
                </a:solidFill>
              </a:rPr>
              <a:t>[Appropriate action based on stage and intent]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8339328" y="4956048"/>
            <a:ext cx="2880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640080" y="5925312"/>
            <a:ext cx="10899648" cy="0"/>
          </a:xfrm>
          <a:prstGeom prst="line">
            <a:avLst/>
          </a:prstGeom>
          <a:noFill/>
          <a:ln w="6350">
            <a:solidFill>
              <a:srgbClr val="D3D8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" y="5431536"/>
            <a:ext cx="2103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02124"/>
                </a:solidFill>
              </a:rPr>
              <a:t>Measurement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971800" y="5431536"/>
            <a:ext cx="2560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5669280" y="5431536"/>
            <a:ext cx="2514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02124"/>
                </a:solidFill>
              </a:rPr>
              <a:t>[How we evaluate performance after publication]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8339328" y="5431536"/>
            <a:ext cx="2880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402336" y="6510528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GS-CARE-003 Discoverability &amp; Content Opportunity Report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10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Recommended sequence after human review.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10561320" cy="749808"/>
          </a:xfrm>
          <a:prstGeom prst="roundRect">
            <a:avLst>
              <a:gd name="adj" fmla="val 9756"/>
            </a:avLst>
          </a:prstGeom>
          <a:solidFill>
            <a:srgbClr val="DDF2EE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554480"/>
            <a:ext cx="384048" cy="384048"/>
          </a:xfrm>
          <a:prstGeom prst="ellipse">
            <a:avLst/>
          </a:prstGeom>
          <a:solidFill>
            <a:srgbClr val="0B7F79"/>
          </a:solidFill>
          <a:ln w="12700">
            <a:solidFill>
              <a:srgbClr val="0B7F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664208"/>
            <a:ext cx="9144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1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609344" y="15544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3B4F"/>
                </a:solidFill>
              </a:rPr>
              <a:t>Approve priorities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0" y="15544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124"/>
                </a:solidFill>
              </a:rPr>
              <a:t>Human reviews evidence, relevance, certainty, and effort.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77240" y="2377440"/>
            <a:ext cx="10561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2560320"/>
            <a:ext cx="384048" cy="384048"/>
          </a:xfrm>
          <a:prstGeom prst="ellipse">
            <a:avLst/>
          </a:prstGeom>
          <a:solidFill>
            <a:srgbClr val="0B7F79"/>
          </a:solidFill>
          <a:ln w="12700">
            <a:solidFill>
              <a:srgbClr val="0B7F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670048"/>
            <a:ext cx="9144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2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1609344" y="25603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3B4F"/>
                </a:solidFill>
              </a:rPr>
              <a:t>Resolve proof gaps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0" y="256032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124"/>
                </a:solidFill>
              </a:rPr>
              <a:t>Client provides missing expertise, claims support, permissions, or SME input.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77240" y="3383280"/>
            <a:ext cx="10561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1560" y="3566160"/>
            <a:ext cx="384048" cy="384048"/>
          </a:xfrm>
          <a:prstGeom prst="ellipse">
            <a:avLst/>
          </a:prstGeom>
          <a:solidFill>
            <a:srgbClr val="0B7F79"/>
          </a:solidFill>
          <a:ln w="12700">
            <a:solidFill>
              <a:srgbClr val="0B7F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675888"/>
            <a:ext cx="9144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3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609344" y="35661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3B4F"/>
                </a:solidFill>
              </a:rPr>
              <a:t>Produce / optimize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0" y="356616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124"/>
                </a:solidFill>
              </a:rPr>
              <a:t>Create, revise, consolidate, or rewrite according to approved brief.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77240" y="4389120"/>
            <a:ext cx="10561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51560" y="4572000"/>
            <a:ext cx="384048" cy="384048"/>
          </a:xfrm>
          <a:prstGeom prst="ellipse">
            <a:avLst/>
          </a:prstGeom>
          <a:solidFill>
            <a:srgbClr val="0B7F79"/>
          </a:solidFill>
          <a:ln w="12700">
            <a:solidFill>
              <a:srgbClr val="0B7F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4681728"/>
            <a:ext cx="9144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4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1609344" y="45720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3B4F"/>
                </a:solidFill>
              </a:rPr>
              <a:t>Measure outcome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23360" y="45720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124"/>
                </a:solidFill>
              </a:rPr>
              <a:t>Track baseline, publish date, evaluation period, and supported conclusion.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402336" y="6510528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GS-CARE-003 Discoverability &amp; Content Opportunity Report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11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Required Guardrails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Keep these rules attached to the report.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10378440" cy="4160520"/>
          </a:xfrm>
          <a:prstGeom prst="roundRect">
            <a:avLst>
              <a:gd name="adj" fmla="val 1758"/>
            </a:avLst>
          </a:prstGeom>
          <a:solidFill>
            <a:srgbClr val="F5F7F8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178308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3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GSC_QUERY != CONTENT_STRATEGY_BY_ITSELF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3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HIGH_IMPRESSIONS != HIGH_BUSINESS_VALUE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3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EXTERNAL_RESEARCH_MUST_BE_DISTINGUISHED_FROM_CLIENT_DATA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3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AI_INTERPRETATION != STRATEGIST_CONCLUSION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3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GSC_CLICK != GA4_SESSION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3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TRAFFIC_GROWTH != PROVEN_BUSINESS_IMPACT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3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CLIENT_STATEMENT != INDEPENDENT_EVIDENCE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3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HUMAN_APPROVAL_REQUIRED_FOR_EXTERNAL_DELIVERY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4370832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F79"/>
                </a:solidFill>
              </a:rPr>
              <a:t>Production status flow: AI-generated opportunity → human review → approved content opportunity → implementation → outcome record.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2336" y="6510528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GS-CARE-003 Discoverability &amp; Content Opportunity Report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12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SimpliCreative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GS-CARE-003 Discoverability &amp; Content Opportunity Report</dc:title>
  <dc:subject>GS-CARE-003 Discoverability &amp; Content Opportunity Report</dc:subject>
  <dc:creator>SimpliCreative</dc:creator>
  <cp:lastModifiedBy>SimpliCreative</cp:lastModifiedBy>
  <cp:revision>1</cp:revision>
  <dcterms:created xsi:type="dcterms:W3CDTF">2026-09-05T01:36:24Z</dcterms:created>
  <dcterms:modified xsi:type="dcterms:W3CDTF">2026-09-05T01:36:24Z</dcterms:modified>
</cp:coreProperties>
</file>