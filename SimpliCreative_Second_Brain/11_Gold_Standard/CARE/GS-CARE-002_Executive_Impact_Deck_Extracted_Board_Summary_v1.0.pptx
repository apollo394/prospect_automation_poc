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CARE-001 v1.1 and CARE-002 v1.1 define GS-CARE-002 as an optional extracted board-only version derived from the approved executive section and approved findings of GS-CARE-001.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Derived from GS-CARE-001 executive section: Executive Summary, Primary Business/Mission Outcome, What’s Working/Needs Attention, Measurement Limits, and Next-Period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 KPI hierarchy: Business/Mission Outcome, Conversion, Demand/Reach, Engagement, Discoverability, Channel Quality, Content Performance, Measurement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Extract from approved GS-CARE-001 findings. Do not introduce new positives to make the story stronger.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Extract from GS-CARE-001 What Needs Attention and Measurement Health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 guardrails: PLATFORM_METRIC != BUSINESS_OUTCOME; CORRELATION != CAUSATION; CLIENT_STATEMENT != INDEPENDENT_EVIDENCE; EXECUTIVE_DECK_MUST_TRACE_TO_APPROVED_REPORT_EVIDENCE.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Extract from GS-CARE-001 Next-Period Priorities. This deck should stay concise for board/executive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100584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074420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GS-CARE-002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658368" y="1517904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[Client Name]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Impact Deck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94944" y="285292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7A"/>
                </a:solidFill>
              </a:rPr>
              <a:t>[Monthly / Quarterly / Annual]  |  [Current period] vs [comparison period]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3364992"/>
            <a:ext cx="868680" cy="0"/>
          </a:xfrm>
          <a:prstGeom prst="line">
            <a:avLst/>
          </a:prstGeom>
          <a:noFill/>
          <a:ln w="38100">
            <a:solidFill>
              <a:srgbClr val="F7C9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611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02124"/>
                </a:solidFill>
              </a:rPr>
              <a:t>Prepared by SimpliCreative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66760" y="19202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Extracted from the approved Marketing Performance Intelligence Report.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5048" y="29718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AE7EC"/>
                </a:solidFill>
              </a:rPr>
              <a:t>No independent re-analysis. No new conclusions. Board-ready only.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Board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The period story in plain language.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64465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leadership should understand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2103120"/>
            <a:ext cx="56692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[One paragraph summarizing the primary outcome, supporting metric movement, constraints, measurement limits, and next priority. This should be readable without analytics context.]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3749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F79"/>
                </a:solidFill>
              </a:rPr>
              <a:t>Use this phrasing pattern: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41832" y="40507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i="1" dirty="0">
                <a:solidFill>
                  <a:srgbClr val="113B4F"/>
                </a:solidFill>
              </a:rPr>
              <a:t>“The evidence supports X. It does not yet prove Y. The next priority is Z.”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479792" y="132588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DDF2EE"/>
          </a:solidFill>
          <a:ln w="8890">
            <a:solidFill>
              <a:srgbClr val="DDF2E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54112" y="16002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3B4F"/>
                </a:solidFill>
              </a:rPr>
              <a:t>Primary outcome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72600" y="15819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2124"/>
                </a:solidFill>
              </a:rPr>
              <a:t>[Outcome + movement]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479792" y="260604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7D9"/>
          </a:solidFill>
          <a:ln w="8890">
            <a:solidFill>
              <a:srgbClr val="FFF7D9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54112" y="28803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3B4F"/>
                </a:solidFill>
              </a:rPr>
              <a:t>Constraint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72600" y="286207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2124"/>
                </a:solidFill>
              </a:rPr>
              <a:t>[Gap / risk / limitation]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7479792" y="38862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DEAE7"/>
          </a:solidFill>
          <a:ln w="8890">
            <a:solidFill>
              <a:srgbClr val="FDEAE7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54112" y="4160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3B4F"/>
                </a:solidFill>
              </a:rPr>
              <a:t>Decision needed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0" y="4142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2124"/>
                </a:solidFill>
              </a:rPr>
              <a:t>[Board / leadership focus]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402336" y="651052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GS-CARE-002 Executive Impact Deck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The board sees the primary outcome first, then the supporting metrics.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298448"/>
            <a:ext cx="2057400" cy="0"/>
          </a:xfrm>
          <a:prstGeom prst="line">
            <a:avLst/>
          </a:prstGeom>
          <a:noFill/>
          <a:ln w="26670">
            <a:solidFill>
              <a:srgbClr val="0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2646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PRIMARY OUTCOME</a:t>
            </a:r>
            <a:endParaRPr lang="en-US" sz="710" dirty="0"/>
          </a:p>
        </p:txBody>
      </p:sp>
      <p:sp>
        <p:nvSpPr>
          <p:cNvPr id="8" name="Text 6"/>
          <p:cNvSpPr/>
          <p:nvPr/>
        </p:nvSpPr>
        <p:spPr>
          <a:xfrm>
            <a:off x="676656" y="168249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84732" y="2066544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2164" y="2130552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731520" y="236829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The top business / mission metric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88920" y="1298448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298448"/>
            <a:ext cx="2057400" cy="0"/>
          </a:xfrm>
          <a:prstGeom prst="line">
            <a:avLst/>
          </a:prstGeom>
          <a:noFill/>
          <a:ln w="26670">
            <a:solidFill>
              <a:srgbClr val="35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42646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CONVERSIONS</a:t>
            </a:r>
            <a:endParaRPr lang="en-US" sz="710" dirty="0"/>
          </a:p>
        </p:txBody>
      </p:sp>
      <p:sp>
        <p:nvSpPr>
          <p:cNvPr id="15" name="Text 13"/>
          <p:cNvSpPr/>
          <p:nvPr/>
        </p:nvSpPr>
        <p:spPr>
          <a:xfrm>
            <a:off x="2898648" y="168249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06724" y="2066544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35A853"/>
          </a:solidFill>
          <a:ln w="12700">
            <a:solidFill>
              <a:srgbClr val="35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4156" y="2130552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18" name="Text 16"/>
          <p:cNvSpPr/>
          <p:nvPr/>
        </p:nvSpPr>
        <p:spPr>
          <a:xfrm>
            <a:off x="2953512" y="236829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Meaningful next-step actions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10912" y="1298448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10912" y="1298448"/>
            <a:ext cx="2057400" cy="0"/>
          </a:xfrm>
          <a:prstGeom prst="line">
            <a:avLst/>
          </a:prstGeom>
          <a:noFill/>
          <a:ln w="26670">
            <a:solidFill>
              <a:srgbClr val="2D9C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42646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DEMAND / REACH</a:t>
            </a:r>
            <a:endParaRPr lang="en-US" sz="710" dirty="0"/>
          </a:p>
        </p:txBody>
      </p:sp>
      <p:sp>
        <p:nvSpPr>
          <p:cNvPr id="22" name="Text 20"/>
          <p:cNvSpPr/>
          <p:nvPr/>
        </p:nvSpPr>
        <p:spPr>
          <a:xfrm>
            <a:off x="5120640" y="168249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728716" y="2066544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56148" y="2130552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25" name="Text 23"/>
          <p:cNvSpPr/>
          <p:nvPr/>
        </p:nvSpPr>
        <p:spPr>
          <a:xfrm>
            <a:off x="5175504" y="236829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Relevant traffic or audience growth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232904" y="1298448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32904" y="1298448"/>
            <a:ext cx="2057400" cy="0"/>
          </a:xfrm>
          <a:prstGeom prst="line">
            <a:avLst/>
          </a:prstGeom>
          <a:noFill/>
          <a:ln w="26670">
            <a:solidFill>
              <a:srgbClr val="5B4B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142646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ENGAGEMENT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342632" y="168249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950708" y="2066544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5B4BDB"/>
          </a:solidFill>
          <a:ln w="12700">
            <a:solidFill>
              <a:srgbClr val="5B4B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8140" y="2130552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32" name="Text 30"/>
          <p:cNvSpPr/>
          <p:nvPr/>
        </p:nvSpPr>
        <p:spPr>
          <a:xfrm>
            <a:off x="7397496" y="236829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Quality of attention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454896" y="1298448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454896" y="1298448"/>
            <a:ext cx="2057400" cy="0"/>
          </a:xfrm>
          <a:prstGeom prst="line">
            <a:avLst/>
          </a:prstGeom>
          <a:noFill/>
          <a:ln w="26670">
            <a:solidFill>
              <a:srgbClr val="F299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46336" y="142646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DISCOVERABILITY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9564624" y="168249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10172700" y="2066544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00132" y="2130552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9619488" y="236829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Search visibility and intent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49808" y="3584448"/>
            <a:ext cx="10287000" cy="1097280"/>
          </a:xfrm>
          <a:prstGeom prst="roundRect">
            <a:avLst>
              <a:gd name="adj" fmla="val 6667"/>
            </a:avLst>
          </a:prstGeom>
          <a:solidFill>
            <a:srgbClr val="F5F7F8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24128" y="38587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13B4F"/>
                </a:solidFill>
              </a:rPr>
              <a:t>Board read</a:t>
            </a: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2423160" y="384048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[One sentence explaining whether the primary outcome is improving, constrained, flat, or unclear. Supporting KPIs should explain the story, not replace the outcome.]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402336" y="651052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GS-CARE-002 Executive Impact Deck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What’s Working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Evidence-supported progress worth protecting or scaling.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DDF2EE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1618488"/>
            <a:ext cx="384048" cy="384048"/>
          </a:xfrm>
          <a:prstGeom prst="ellipse">
            <a:avLst/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728216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627632" y="16184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[Positive signal]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160934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[Metric movement + why it matters]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8992" y="2852928"/>
            <a:ext cx="384048" cy="384048"/>
          </a:xfrm>
          <a:prstGeom prst="ellipse">
            <a:avLst/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2962656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627632" y="28529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[Positive signal]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284378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[Metric movement + why it matters]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3886200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8992" y="4087368"/>
            <a:ext cx="384048" cy="384048"/>
          </a:xfrm>
          <a:prstGeom prst="ellipse">
            <a:avLst/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4197096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627632" y="40873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[Positive signal]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60520" y="407822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[Metric movement + why it matters]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0120" y="5440680"/>
            <a:ext cx="9921240" cy="420624"/>
          </a:xfrm>
          <a:prstGeom prst="roundRect">
            <a:avLst>
              <a:gd name="adj" fmla="val 17391"/>
            </a:avLst>
          </a:prstGeom>
          <a:solidFill>
            <a:srgbClr val="FFF7D9"/>
          </a:solidFill>
          <a:ln w="8890">
            <a:solidFill>
              <a:srgbClr val="FFF7D9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88720" y="5596128"/>
            <a:ext cx="9418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13B4F"/>
                </a:solidFill>
              </a:rPr>
              <a:t>Only include claims that trace to approved report evidence and approved certainty level.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402336" y="651052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GS-CARE-002 Executive Impact Deck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Attention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The constraints, risks, and gaps leadership should not miss.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FDEAE7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1618488"/>
            <a:ext cx="384048" cy="384048"/>
          </a:xfrm>
          <a:prstGeom prst="ellipse">
            <a:avLst/>
          </a:prstGeom>
          <a:solidFill>
            <a:srgbClr val="D94235"/>
          </a:solidFill>
          <a:ln w="12700">
            <a:solidFill>
              <a:srgbClr val="D94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728216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627632" y="161848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[Constraint / decline]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16093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[Evidence + business implication]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8992" y="2852928"/>
            <a:ext cx="384048" cy="38404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2962656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627632" y="28529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[Measurement gap]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28437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[What cannot yet be responsibly claimed]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3886200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8992" y="4087368"/>
            <a:ext cx="384048" cy="384048"/>
          </a:xfrm>
          <a:prstGeom prst="ellipse">
            <a:avLst/>
          </a:prstGeom>
          <a:solidFill>
            <a:srgbClr val="D94235"/>
          </a:solidFill>
          <a:ln w="12700">
            <a:solidFill>
              <a:srgbClr val="D942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4197096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627632" y="408736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[Decision point]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40782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</a:rPr>
              <a:t>[What leadership or the marketing team needs to decide]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0120" y="5440680"/>
            <a:ext cx="9921240" cy="420624"/>
          </a:xfrm>
          <a:prstGeom prst="roundRect">
            <a:avLst>
              <a:gd name="adj" fmla="val 17391"/>
            </a:avLst>
          </a:prstGeom>
          <a:solidFill>
            <a:srgbClr val="F5F7F8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88720" y="5596128"/>
            <a:ext cx="9418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13B4F"/>
                </a:solidFill>
              </a:rPr>
              <a:t>A board deck is more credible when it clearly says what the evidence does not yet support.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402336" y="651052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GS-CARE-002 Executive Impact Deck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Responsible Interpretation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What we can claim, and what remains uncertain.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29718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44752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Claim area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3611880" y="1325880"/>
            <a:ext cx="379476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444752"/>
            <a:ext cx="3611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Can responsibly say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7406640" y="1325880"/>
            <a:ext cx="379476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444752"/>
            <a:ext cx="3611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Do not claim yet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640080" y="1709928"/>
            <a:ext cx="2971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74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Primary outcome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611880" y="1709928"/>
            <a:ext cx="3794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8745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[Approved outcome movement]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406640" y="1709928"/>
            <a:ext cx="3794760" cy="685800"/>
          </a:xfrm>
          <a:prstGeom prst="rect">
            <a:avLst/>
          </a:prstGeom>
          <a:solidFill>
            <a:srgbClr val="FFF7D9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8745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[Unsupported causation or ROI]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40080" y="2395728"/>
            <a:ext cx="2971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5603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Marketing activity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3611880" y="2395728"/>
            <a:ext cx="3794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5603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[Observed traffic / engagement / conversion movement]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406640" y="2395728"/>
            <a:ext cx="3794760" cy="685800"/>
          </a:xfrm>
          <a:prstGeom prst="rect">
            <a:avLst/>
          </a:prstGeom>
          <a:solidFill>
            <a:srgbClr val="FFF7D9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25603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[Business impact without downstream evidence]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40080" y="3081528"/>
            <a:ext cx="2971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461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Attribution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611880" y="3081528"/>
            <a:ext cx="3794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2461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[Source-reported or CRM-attributed evidence]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7406640" y="3081528"/>
            <a:ext cx="3794760" cy="685800"/>
          </a:xfrm>
          <a:prstGeom prst="rect">
            <a:avLst/>
          </a:prstGeom>
          <a:solidFill>
            <a:srgbClr val="FFF7D9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32461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[Causal attribution unless validated]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640080" y="3767328"/>
            <a:ext cx="2971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9319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Measurement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3611880" y="3767328"/>
            <a:ext cx="3794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39319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[Definitions and limits visible]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7406640" y="3767328"/>
            <a:ext cx="3794760" cy="685800"/>
          </a:xfrm>
          <a:prstGeom prst="rect">
            <a:avLst/>
          </a:prstGeom>
          <a:solidFill>
            <a:srgbClr val="FFF7D9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39319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[Comparisons where definitions changed silently]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402336" y="651052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GS-CARE-002 Executive Impact Deck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Next-Period Priorities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A short, decision-ready focus list for leadership.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10607040" cy="859536"/>
          </a:xfrm>
          <a:prstGeom prst="roundRect">
            <a:avLst>
              <a:gd name="adj" fmla="val 8511"/>
            </a:avLst>
          </a:prstGeom>
          <a:solidFill>
            <a:srgbClr val="DDF2EE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1591056"/>
            <a:ext cx="384048" cy="384048"/>
          </a:xfrm>
          <a:prstGeom prst="ellipse">
            <a:avLst/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9576" y="1700784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609344" y="15544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[Priority 1]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0" y="1554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[Why it matters]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63524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7F79"/>
                </a:solidFill>
              </a:rPr>
              <a:t>[What success looks like]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77240" y="2606040"/>
            <a:ext cx="10607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42416" y="2825496"/>
            <a:ext cx="384048" cy="384048"/>
          </a:xfrm>
          <a:prstGeom prst="ellipse">
            <a:avLst/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9576" y="2935224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609344" y="2788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[Priority 2]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2788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[Why it matters]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7635240" y="2788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7F79"/>
                </a:solidFill>
              </a:rPr>
              <a:t>[What success looks like]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77240" y="3840480"/>
            <a:ext cx="10607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42416" y="4059936"/>
            <a:ext cx="384048" cy="384048"/>
          </a:xfrm>
          <a:prstGeom prst="ellipse">
            <a:avLst/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4169664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609344" y="40233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[Priority 3]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77640" y="4023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[Why it matters]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635240" y="4023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7F79"/>
                </a:solidFill>
              </a:rPr>
              <a:t>[What success looks like]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868680" y="5394960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17A"/>
                </a:solidFill>
              </a:rPr>
              <a:t>Recommended deck length: 5–7 slides. Keep operational detail in GS-CARE-001 unless leadership specifically asks for it.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" y="651052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GS-CARE-002 Executive Impact Deck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SimpliCreative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GS-CARE-002 Executive Impact Deck</dc:title>
  <dc:subject>GS-CARE-002 Executive Impact Deck</dc:subject>
  <dc:creator>SimpliCreative</dc:creator>
  <cp:lastModifiedBy>SimpliCreative</cp:lastModifiedBy>
  <cp:revision>1</cp:revision>
  <dcterms:created xsi:type="dcterms:W3CDTF">2026-09-05T01:28:45Z</dcterms:created>
  <dcterms:modified xsi:type="dcterms:W3CDTF">2026-09-05T01:28:45Z</dcterms:modified>
</cp:coreProperties>
</file>